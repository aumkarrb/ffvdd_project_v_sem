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303c00bd3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303c00bd3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95be312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95be312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34f10d9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34f10d9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303c00bd3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303c00bd3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34a35e7f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34a35e7f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34a35e7f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34a35e7f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92bffcd4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92bffcd4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7f4daf47f4bf1c8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7f4daf47f4bf1c8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92bffcd4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92bffcd4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github.com/aumkarrb/FFVDD_Project_V_Sem/tree/main"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54625" y="2255475"/>
            <a:ext cx="8520600" cy="18549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rPr lang="en" sz="3120"/>
              <a:t>Mentor TA : Abhay</a:t>
            </a:r>
            <a:endParaRPr sz="3120"/>
          </a:p>
          <a:p>
            <a:pPr indent="0" lvl="0" marL="2743200" rtl="0" algn="l">
              <a:lnSpc>
                <a:spcPct val="115000"/>
              </a:lnSpc>
              <a:spcBef>
                <a:spcPts val="0"/>
              </a:spcBef>
              <a:spcAft>
                <a:spcPts val="0"/>
              </a:spcAft>
              <a:buNone/>
            </a:pPr>
            <a:r>
              <a:rPr lang="en"/>
              <a:t>Anirudh</a:t>
            </a:r>
            <a:r>
              <a:rPr lang="en"/>
              <a:t> </a:t>
            </a:r>
            <a:r>
              <a:rPr lang="en"/>
              <a:t>PES1UG23EC043</a:t>
            </a:r>
            <a:endParaRPr/>
          </a:p>
          <a:p>
            <a:pPr indent="0" lvl="0" marL="0" rtl="0" algn="ctr">
              <a:lnSpc>
                <a:spcPct val="115000"/>
              </a:lnSpc>
              <a:spcBef>
                <a:spcPts val="0"/>
              </a:spcBef>
              <a:spcAft>
                <a:spcPts val="0"/>
              </a:spcAft>
              <a:buNone/>
            </a:pPr>
            <a:r>
              <a:rPr lang="en"/>
              <a:t>Aumkar Ranjan Behura  PES1UG23EC066</a:t>
            </a:r>
            <a:endParaRPr/>
          </a:p>
          <a:p>
            <a:pPr indent="0" lvl="0" marL="0" rtl="0" algn="ctr">
              <a:lnSpc>
                <a:spcPct val="115000"/>
              </a:lnSpc>
              <a:spcBef>
                <a:spcPts val="0"/>
              </a:spcBef>
              <a:spcAft>
                <a:spcPts val="0"/>
              </a:spcAft>
              <a:buNone/>
            </a:pPr>
            <a:r>
              <a:rPr lang="en"/>
              <a:t>      Chirag V Rao  PES1UG23EC081</a:t>
            </a:r>
            <a:endParaRPr/>
          </a:p>
          <a:p>
            <a:pPr indent="0" lvl="0" marL="0" rtl="0" algn="l">
              <a:lnSpc>
                <a:spcPct val="115000"/>
              </a:lnSpc>
              <a:spcBef>
                <a:spcPts val="0"/>
              </a:spcBef>
              <a:spcAft>
                <a:spcPts val="0"/>
              </a:spcAft>
              <a:buNone/>
            </a:pPr>
            <a:r>
              <a:rPr lang="en"/>
              <a:t>                                         Harini  PES1UG23EC117</a:t>
            </a:r>
            <a:endParaRPr/>
          </a:p>
          <a:p>
            <a:pPr indent="0" lvl="0" marL="0" rtl="0" algn="ctr">
              <a:spcBef>
                <a:spcPts val="0"/>
              </a:spcBef>
              <a:spcAft>
                <a:spcPts val="0"/>
              </a:spcAft>
              <a:buNone/>
            </a:pPr>
            <a:r>
              <a:t/>
            </a:r>
            <a:endParaRPr/>
          </a:p>
        </p:txBody>
      </p:sp>
      <p:sp>
        <p:nvSpPr>
          <p:cNvPr id="55" name="Google Shape;55;p13"/>
          <p:cNvSpPr txBox="1"/>
          <p:nvPr>
            <p:ph type="ctrTitle"/>
          </p:nvPr>
        </p:nvSpPr>
        <p:spPr>
          <a:xfrm>
            <a:off x="0" y="837350"/>
            <a:ext cx="8919900" cy="137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680">
                <a:latin typeface="Georgia"/>
                <a:ea typeface="Georgia"/>
                <a:cs typeface="Georgia"/>
                <a:sym typeface="Georgia"/>
              </a:rPr>
              <a:t>DUAL CLOCK FIFO (ASYNCHRONOUS) USING LAYERED TESTBENCH</a:t>
            </a:r>
            <a:endParaRPr sz="2680">
              <a:latin typeface="Georgia"/>
              <a:ea typeface="Georgia"/>
              <a:cs typeface="Georgia"/>
              <a:sym typeface="Georgia"/>
            </a:endParaRPr>
          </a:p>
        </p:txBody>
      </p:sp>
      <p:pic>
        <p:nvPicPr>
          <p:cNvPr id="56" name="Google Shape;56;p13"/>
          <p:cNvPicPr preferRelativeResize="0"/>
          <p:nvPr/>
        </p:nvPicPr>
        <p:blipFill>
          <a:blip r:embed="rId3">
            <a:alphaModFix/>
          </a:blip>
          <a:stretch>
            <a:fillRect/>
          </a:stretch>
        </p:blipFill>
        <p:spPr>
          <a:xfrm>
            <a:off x="7501306" y="-1"/>
            <a:ext cx="1642694" cy="79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268050" y="1099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820">
                <a:latin typeface="Georgia"/>
                <a:ea typeface="Georgia"/>
                <a:cs typeface="Georgia"/>
                <a:sym typeface="Georgia"/>
              </a:rPr>
              <a:t>Design </a:t>
            </a:r>
            <a:endParaRPr sz="2820">
              <a:latin typeface="Georgia"/>
              <a:ea typeface="Georgia"/>
              <a:cs typeface="Georgia"/>
              <a:sym typeface="Georgia"/>
            </a:endParaRPr>
          </a:p>
        </p:txBody>
      </p:sp>
      <p:pic>
        <p:nvPicPr>
          <p:cNvPr id="62" name="Google Shape;62;p14"/>
          <p:cNvPicPr preferRelativeResize="0"/>
          <p:nvPr/>
        </p:nvPicPr>
        <p:blipFill>
          <a:blip r:embed="rId3">
            <a:alphaModFix/>
          </a:blip>
          <a:stretch>
            <a:fillRect/>
          </a:stretch>
        </p:blipFill>
        <p:spPr>
          <a:xfrm>
            <a:off x="7501306" y="-1"/>
            <a:ext cx="1642694" cy="792600"/>
          </a:xfrm>
          <a:prstGeom prst="rect">
            <a:avLst/>
          </a:prstGeom>
          <a:noFill/>
          <a:ln>
            <a:noFill/>
          </a:ln>
        </p:spPr>
      </p:pic>
      <p:pic>
        <p:nvPicPr>
          <p:cNvPr id="63" name="Google Shape;63;p14" title="WhatsApp Image 2025-11-14 at 04.12.32_09386711.jpg"/>
          <p:cNvPicPr preferRelativeResize="0"/>
          <p:nvPr/>
        </p:nvPicPr>
        <p:blipFill>
          <a:blip r:embed="rId4">
            <a:alphaModFix/>
          </a:blip>
          <a:stretch>
            <a:fillRect/>
          </a:stretch>
        </p:blipFill>
        <p:spPr>
          <a:xfrm>
            <a:off x="558325" y="792600"/>
            <a:ext cx="7611050" cy="3874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99575" y="-872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520">
                <a:latin typeface="Georgia"/>
                <a:ea typeface="Georgia"/>
                <a:cs typeface="Georgia"/>
                <a:sym typeface="Georgia"/>
              </a:rPr>
              <a:t>Design </a:t>
            </a:r>
            <a:endParaRPr sz="2520">
              <a:latin typeface="Georgia"/>
              <a:ea typeface="Georgia"/>
              <a:cs typeface="Georgia"/>
              <a:sym typeface="Georgia"/>
            </a:endParaRPr>
          </a:p>
        </p:txBody>
      </p:sp>
      <p:sp>
        <p:nvSpPr>
          <p:cNvPr id="69" name="Google Shape;69;p15"/>
          <p:cNvSpPr txBox="1"/>
          <p:nvPr>
            <p:ph idx="1" type="body"/>
          </p:nvPr>
        </p:nvSpPr>
        <p:spPr>
          <a:xfrm>
            <a:off x="108800" y="871250"/>
            <a:ext cx="8806200" cy="317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Times New Roman"/>
                <a:ea typeface="Times New Roman"/>
                <a:cs typeface="Times New Roman"/>
                <a:sym typeface="Times New Roman"/>
              </a:rPr>
              <a:t>1. Primary Function &amp; Capacity</a:t>
            </a:r>
            <a:endParaRPr b="1" sz="1300">
              <a:solidFill>
                <a:schemeClr val="dk1"/>
              </a:solidFill>
              <a:latin typeface="Times New Roman"/>
              <a:ea typeface="Times New Roman"/>
              <a:cs typeface="Times New Roman"/>
              <a:sym typeface="Times New Roman"/>
            </a:endParaRPr>
          </a:p>
          <a:p>
            <a:pPr indent="-298450" lvl="0" marL="457200" rtl="0" algn="l">
              <a:spcBef>
                <a:spcPts val="40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Goal:</a:t>
            </a:r>
            <a:r>
              <a:rPr lang="en" sz="1100">
                <a:solidFill>
                  <a:schemeClr val="dk1"/>
                </a:solidFill>
                <a:latin typeface="Times New Roman"/>
                <a:ea typeface="Times New Roman"/>
                <a:cs typeface="Times New Roman"/>
                <a:sym typeface="Times New Roman"/>
              </a:rPr>
              <a:t> To safely and reliably transfer 8-bit data from the </a:t>
            </a:r>
            <a:r>
              <a:rPr b="1" lang="en" sz="1100">
                <a:solidFill>
                  <a:schemeClr val="dk1"/>
                </a:solidFill>
                <a:latin typeface="Times New Roman"/>
                <a:ea typeface="Times New Roman"/>
                <a:cs typeface="Times New Roman"/>
                <a:sym typeface="Times New Roman"/>
              </a:rPr>
              <a:t>Write Clock (</a:t>
            </a:r>
            <a:r>
              <a:rPr b="1" lang="en" sz="1100">
                <a:solidFill>
                  <a:srgbClr val="188038"/>
                </a:solidFill>
                <a:latin typeface="Times New Roman"/>
                <a:ea typeface="Times New Roman"/>
                <a:cs typeface="Times New Roman"/>
                <a:sym typeface="Times New Roman"/>
              </a:rPr>
              <a:t>wclk</a:t>
            </a:r>
            <a:r>
              <a:rPr b="1" lang="en" sz="1100">
                <a:solidFill>
                  <a:schemeClr val="dk1"/>
                </a:solidFill>
                <a:latin typeface="Times New Roman"/>
                <a:ea typeface="Times New Roman"/>
                <a:cs typeface="Times New Roman"/>
                <a:sym typeface="Times New Roman"/>
              </a:rPr>
              <a:t>) domain</a:t>
            </a:r>
            <a:r>
              <a:rPr lang="en" sz="1100">
                <a:solidFill>
                  <a:schemeClr val="dk1"/>
                </a:solidFill>
                <a:latin typeface="Times New Roman"/>
                <a:ea typeface="Times New Roman"/>
                <a:cs typeface="Times New Roman"/>
                <a:sym typeface="Times New Roman"/>
              </a:rPr>
              <a:t> to the </a:t>
            </a:r>
            <a:r>
              <a:rPr b="1" lang="en" sz="1100">
                <a:solidFill>
                  <a:schemeClr val="dk1"/>
                </a:solidFill>
                <a:latin typeface="Times New Roman"/>
                <a:ea typeface="Times New Roman"/>
                <a:cs typeface="Times New Roman"/>
                <a:sym typeface="Times New Roman"/>
              </a:rPr>
              <a:t>Read Clock (</a:t>
            </a:r>
            <a:r>
              <a:rPr b="1" lang="en" sz="1100">
                <a:solidFill>
                  <a:srgbClr val="188038"/>
                </a:solidFill>
                <a:latin typeface="Times New Roman"/>
                <a:ea typeface="Times New Roman"/>
                <a:cs typeface="Times New Roman"/>
                <a:sym typeface="Times New Roman"/>
              </a:rPr>
              <a:t>rclk</a:t>
            </a:r>
            <a:r>
              <a:rPr b="1" lang="en" sz="1100">
                <a:solidFill>
                  <a:schemeClr val="dk1"/>
                </a:solidFill>
                <a:latin typeface="Times New Roman"/>
                <a:ea typeface="Times New Roman"/>
                <a:cs typeface="Times New Roman"/>
                <a:sym typeface="Times New Roman"/>
              </a:rPr>
              <a:t>) domain</a:t>
            </a:r>
            <a:r>
              <a:rPr lang="en"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Capacity:</a:t>
            </a:r>
            <a:r>
              <a:rPr lang="en" sz="1100">
                <a:solidFill>
                  <a:schemeClr val="dk1"/>
                </a:solidFill>
                <a:latin typeface="Times New Roman"/>
                <a:ea typeface="Times New Roman"/>
                <a:cs typeface="Times New Roman"/>
                <a:sym typeface="Times New Roman"/>
              </a:rPr>
              <a:t> The FIFO holds up to </a:t>
            </a:r>
            <a:r>
              <a:rPr b="1" lang="en" sz="1100">
                <a:solidFill>
                  <a:schemeClr val="dk1"/>
                </a:solidFill>
                <a:latin typeface="Times New Roman"/>
                <a:ea typeface="Times New Roman"/>
                <a:cs typeface="Times New Roman"/>
                <a:sym typeface="Times New Roman"/>
              </a:rPr>
              <a:t>16 </a:t>
            </a:r>
            <a:r>
              <a:rPr lang="en" sz="1100">
                <a:solidFill>
                  <a:schemeClr val="dk1"/>
                </a:solidFill>
                <a:latin typeface="Times New Roman"/>
                <a:ea typeface="Times New Roman"/>
                <a:cs typeface="Times New Roman"/>
                <a:sym typeface="Times New Roman"/>
              </a:rPr>
              <a:t>data entries (2**4 based on 4 address bits).</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Fundamental Role:</a:t>
            </a:r>
            <a:r>
              <a:rPr lang="en" sz="1100">
                <a:solidFill>
                  <a:schemeClr val="dk1"/>
                </a:solidFill>
                <a:latin typeface="Times New Roman"/>
                <a:ea typeface="Times New Roman"/>
                <a:cs typeface="Times New Roman"/>
                <a:sym typeface="Times New Roman"/>
              </a:rPr>
              <a:t> To bridge the timing and rate difference between the two independent clocks, preventing data loss (overflow) or reading invalid data (underflow).</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sz="1300">
                <a:solidFill>
                  <a:schemeClr val="dk1"/>
                </a:solidFill>
                <a:latin typeface="Times New Roman"/>
                <a:ea typeface="Times New Roman"/>
                <a:cs typeface="Times New Roman"/>
                <a:sym typeface="Times New Roman"/>
              </a:rPr>
              <a:t>2. Write Domain Components (</a:t>
            </a:r>
            <a:r>
              <a:rPr b="1" lang="en" sz="1300">
                <a:solidFill>
                  <a:srgbClr val="188038"/>
                </a:solidFill>
                <a:latin typeface="Times New Roman"/>
                <a:ea typeface="Times New Roman"/>
                <a:cs typeface="Times New Roman"/>
                <a:sym typeface="Times New Roman"/>
              </a:rPr>
              <a:t>wclk</a:t>
            </a:r>
            <a:r>
              <a:rPr b="1" lang="en" sz="1300">
                <a:solidFill>
                  <a:schemeClr val="dk1"/>
                </a:solidFill>
                <a:latin typeface="Times New Roman"/>
                <a:ea typeface="Times New Roman"/>
                <a:cs typeface="Times New Roman"/>
                <a:sym typeface="Times New Roman"/>
              </a:rPr>
              <a:t>)</a:t>
            </a:r>
            <a:endParaRPr b="1" sz="1400">
              <a:solidFill>
                <a:schemeClr val="dk1"/>
              </a:solidFill>
              <a:latin typeface="Times New Roman"/>
              <a:ea typeface="Times New Roman"/>
              <a:cs typeface="Times New Roman"/>
              <a:sym typeface="Times New Roman"/>
            </a:endParaRPr>
          </a:p>
          <a:p>
            <a:pPr indent="-298450" lvl="0" marL="457200" rtl="0" algn="l">
              <a:spcBef>
                <a:spcPts val="40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Data Storage (</a:t>
            </a:r>
            <a:r>
              <a:rPr b="1" lang="en" sz="1100">
                <a:solidFill>
                  <a:srgbClr val="188038"/>
                </a:solidFill>
                <a:latin typeface="Times New Roman"/>
                <a:ea typeface="Times New Roman"/>
                <a:cs typeface="Times New Roman"/>
                <a:sym typeface="Times New Roman"/>
              </a:rPr>
              <a:t>fifomem</a:t>
            </a:r>
            <a:r>
              <a:rPr b="1" lang="en" sz="1100">
                <a:solidFill>
                  <a:schemeClr val="dk1"/>
                </a:solidFill>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 The internal memory array where data is stored. Writes are </a:t>
            </a:r>
            <a:r>
              <a:rPr b="1" lang="en" sz="1100">
                <a:solidFill>
                  <a:schemeClr val="dk1"/>
                </a:solidFill>
                <a:latin typeface="Times New Roman"/>
                <a:ea typeface="Times New Roman"/>
                <a:cs typeface="Times New Roman"/>
                <a:sym typeface="Times New Roman"/>
              </a:rPr>
              <a:t>synchronous</a:t>
            </a:r>
            <a:r>
              <a:rPr lang="en" sz="1100">
                <a:solidFill>
                  <a:schemeClr val="dk1"/>
                </a:solidFill>
                <a:latin typeface="Times New Roman"/>
                <a:ea typeface="Times New Roman"/>
                <a:cs typeface="Times New Roman"/>
                <a:sym typeface="Times New Roman"/>
              </a:rPr>
              <a:t> to </a:t>
            </a:r>
            <a:r>
              <a:rPr lang="en" sz="1100">
                <a:solidFill>
                  <a:srgbClr val="188038"/>
                </a:solidFill>
                <a:latin typeface="Times New Roman"/>
                <a:ea typeface="Times New Roman"/>
                <a:cs typeface="Times New Roman"/>
                <a:sym typeface="Times New Roman"/>
              </a:rPr>
              <a:t>wclk</a:t>
            </a:r>
            <a:r>
              <a:rPr lang="en" sz="1100">
                <a:solidFill>
                  <a:schemeClr val="dk1"/>
                </a:solidFill>
                <a:latin typeface="Times New Roman"/>
                <a:ea typeface="Times New Roman"/>
                <a:cs typeface="Times New Roman"/>
                <a:sym typeface="Times New Roman"/>
              </a:rPr>
              <a:t>. Reads are </a:t>
            </a:r>
            <a:r>
              <a:rPr b="1" lang="en" sz="1100">
                <a:solidFill>
                  <a:schemeClr val="dk1"/>
                </a:solidFill>
                <a:latin typeface="Times New Roman"/>
                <a:ea typeface="Times New Roman"/>
                <a:cs typeface="Times New Roman"/>
                <a:sym typeface="Times New Roman"/>
              </a:rPr>
              <a:t>combinatorial</a:t>
            </a:r>
            <a:r>
              <a:rPr lang="en" sz="1100">
                <a:solidFill>
                  <a:schemeClr val="dk1"/>
                </a:solidFill>
                <a:latin typeface="Times New Roman"/>
                <a:ea typeface="Times New Roman"/>
                <a:cs typeface="Times New Roman"/>
                <a:sym typeface="Times New Roman"/>
              </a:rPr>
              <a:t> (asynchronous).</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Write Pointer Logic (</a:t>
            </a:r>
            <a:r>
              <a:rPr b="1" lang="en" sz="1100">
                <a:solidFill>
                  <a:srgbClr val="188038"/>
                </a:solidFill>
                <a:latin typeface="Times New Roman"/>
                <a:ea typeface="Times New Roman"/>
                <a:cs typeface="Times New Roman"/>
                <a:sym typeface="Times New Roman"/>
              </a:rPr>
              <a:t>wptr_full</a:t>
            </a:r>
            <a:r>
              <a:rPr b="1" lang="en" sz="1100">
                <a:solidFill>
                  <a:schemeClr val="dk1"/>
                </a:solidFill>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 This module manages data input flow and operates entirely on </a:t>
            </a:r>
            <a:r>
              <a:rPr lang="en" sz="1100">
                <a:solidFill>
                  <a:srgbClr val="188038"/>
                </a:solidFill>
                <a:latin typeface="Times New Roman"/>
                <a:ea typeface="Times New Roman"/>
                <a:cs typeface="Times New Roman"/>
                <a:sym typeface="Times New Roman"/>
              </a:rPr>
              <a:t>wclk</a:t>
            </a:r>
            <a:r>
              <a:rPr lang="en"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It generates the memory address (</a:t>
            </a:r>
            <a:r>
              <a:rPr lang="en" sz="1100">
                <a:solidFill>
                  <a:srgbClr val="188038"/>
                </a:solidFill>
                <a:latin typeface="Times New Roman"/>
                <a:ea typeface="Times New Roman"/>
                <a:cs typeface="Times New Roman"/>
                <a:sym typeface="Times New Roman"/>
              </a:rPr>
              <a:t>waddr</a:t>
            </a:r>
            <a:r>
              <a:rPr lang="en" sz="1100">
                <a:solidFill>
                  <a:schemeClr val="dk1"/>
                </a:solidFill>
                <a:latin typeface="Times New Roman"/>
                <a:ea typeface="Times New Roman"/>
                <a:cs typeface="Times New Roman"/>
                <a:sym typeface="Times New Roman"/>
              </a:rPr>
              <a:t>) and the output status flag (</a:t>
            </a:r>
            <a:r>
              <a:rPr lang="en" sz="1100">
                <a:solidFill>
                  <a:srgbClr val="188038"/>
                </a:solidFill>
                <a:latin typeface="Times New Roman"/>
                <a:ea typeface="Times New Roman"/>
                <a:cs typeface="Times New Roman"/>
                <a:sym typeface="Times New Roman"/>
              </a:rPr>
              <a:t>wfull</a:t>
            </a:r>
            <a:r>
              <a:rPr lang="en"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b="1" lang="en" sz="1100">
                <a:solidFill>
                  <a:schemeClr val="dk1"/>
                </a:solidFill>
                <a:latin typeface="Times New Roman"/>
                <a:ea typeface="Times New Roman"/>
                <a:cs typeface="Times New Roman"/>
                <a:sym typeface="Times New Roman"/>
              </a:rPr>
              <a:t>Synchronization (</a:t>
            </a:r>
            <a:r>
              <a:rPr b="1" lang="en" sz="1100">
                <a:solidFill>
                  <a:srgbClr val="188038"/>
                </a:solidFill>
                <a:latin typeface="Times New Roman"/>
                <a:ea typeface="Times New Roman"/>
                <a:cs typeface="Times New Roman"/>
                <a:sym typeface="Times New Roman"/>
              </a:rPr>
              <a:t>sync_r2w</a:t>
            </a:r>
            <a:r>
              <a:rPr b="1" lang="en" sz="1100">
                <a:solidFill>
                  <a:schemeClr val="dk1"/>
                </a:solidFill>
                <a:latin typeface="Times New Roman"/>
                <a:ea typeface="Times New Roman"/>
                <a:cs typeface="Times New Roman"/>
                <a:sym typeface="Times New Roman"/>
              </a:rPr>
              <a:t>):</a:t>
            </a:r>
            <a:endParaRPr b="1"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Char char="○"/>
            </a:pPr>
            <a:r>
              <a:rPr lang="en" sz="1100">
                <a:solidFill>
                  <a:schemeClr val="dk1"/>
                </a:solidFill>
                <a:latin typeface="Times New Roman"/>
                <a:ea typeface="Times New Roman"/>
                <a:cs typeface="Times New Roman"/>
                <a:sym typeface="Times New Roman"/>
              </a:rPr>
              <a:t>This component transfers the </a:t>
            </a:r>
            <a:r>
              <a:rPr b="1" lang="en" sz="1100">
                <a:solidFill>
                  <a:schemeClr val="dk1"/>
                </a:solidFill>
                <a:latin typeface="Times New Roman"/>
                <a:ea typeface="Times New Roman"/>
                <a:cs typeface="Times New Roman"/>
                <a:sym typeface="Times New Roman"/>
              </a:rPr>
              <a:t>Read Pointer (</a:t>
            </a:r>
            <a:r>
              <a:rPr b="1" lang="en" sz="1100">
                <a:solidFill>
                  <a:srgbClr val="188038"/>
                </a:solidFill>
                <a:latin typeface="Times New Roman"/>
                <a:ea typeface="Times New Roman"/>
                <a:cs typeface="Times New Roman"/>
                <a:sym typeface="Times New Roman"/>
              </a:rPr>
              <a:t>rptr</a:t>
            </a:r>
            <a:r>
              <a:rPr b="1" lang="en" sz="1100">
                <a:solidFill>
                  <a:schemeClr val="dk1"/>
                </a:solidFill>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 from the </a:t>
            </a:r>
            <a:r>
              <a:rPr lang="en" sz="1100">
                <a:solidFill>
                  <a:srgbClr val="188038"/>
                </a:solidFill>
                <a:latin typeface="Times New Roman"/>
                <a:ea typeface="Times New Roman"/>
                <a:cs typeface="Times New Roman"/>
                <a:sym typeface="Times New Roman"/>
              </a:rPr>
              <a:t>rclk</a:t>
            </a:r>
            <a:r>
              <a:rPr lang="en" sz="1100">
                <a:solidFill>
                  <a:schemeClr val="dk1"/>
                </a:solidFill>
                <a:latin typeface="Times New Roman"/>
                <a:ea typeface="Times New Roman"/>
                <a:cs typeface="Times New Roman"/>
                <a:sym typeface="Times New Roman"/>
              </a:rPr>
              <a:t> domain to the </a:t>
            </a:r>
            <a:r>
              <a:rPr lang="en" sz="1100">
                <a:solidFill>
                  <a:srgbClr val="188038"/>
                </a:solidFill>
                <a:latin typeface="Times New Roman"/>
                <a:ea typeface="Times New Roman"/>
                <a:cs typeface="Times New Roman"/>
                <a:sym typeface="Times New Roman"/>
              </a:rPr>
              <a:t>wclk</a:t>
            </a:r>
            <a:r>
              <a:rPr lang="en" sz="1100">
                <a:solidFill>
                  <a:schemeClr val="dk1"/>
                </a:solidFill>
                <a:latin typeface="Times New Roman"/>
                <a:ea typeface="Times New Roman"/>
                <a:cs typeface="Times New Roman"/>
                <a:sym typeface="Times New Roman"/>
              </a:rPr>
              <a:t> domain, creating the signal </a:t>
            </a:r>
            <a:r>
              <a:rPr b="1" lang="en" sz="1100">
                <a:solidFill>
                  <a:schemeClr val="dk1"/>
                </a:solidFill>
                <a:latin typeface="Times New Roman"/>
                <a:ea typeface="Times New Roman"/>
                <a:cs typeface="Times New Roman"/>
                <a:sym typeface="Times New Roman"/>
              </a:rPr>
              <a:t>wrptr2</a:t>
            </a:r>
            <a:r>
              <a:rPr lang="en" sz="1100">
                <a:solidFill>
                  <a:schemeClr val="dk1"/>
                </a:solidFill>
                <a:latin typeface="Times New Roman"/>
                <a:ea typeface="Times New Roman"/>
                <a:cs typeface="Times New Roman"/>
                <a:sym typeface="Times New Roman"/>
              </a:rPr>
              <a:t>. This is necessary for checking the </a:t>
            </a:r>
            <a:r>
              <a:rPr b="1" lang="en" sz="1100">
                <a:solidFill>
                  <a:schemeClr val="dk1"/>
                </a:solidFill>
                <a:latin typeface="Times New Roman"/>
                <a:ea typeface="Times New Roman"/>
                <a:cs typeface="Times New Roman"/>
                <a:sym typeface="Times New Roman"/>
              </a:rPr>
              <a:t>Full</a:t>
            </a:r>
            <a:r>
              <a:rPr lang="en" sz="1100">
                <a:solidFill>
                  <a:schemeClr val="dk1"/>
                </a:solidFill>
                <a:latin typeface="Times New Roman"/>
                <a:ea typeface="Times New Roman"/>
                <a:cs typeface="Times New Roman"/>
                <a:sym typeface="Times New Roman"/>
              </a:rPr>
              <a:t> condition.</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sz="1300">
                <a:solidFill>
                  <a:schemeClr val="dk1"/>
                </a:solidFill>
                <a:latin typeface="Times New Roman"/>
                <a:ea typeface="Times New Roman"/>
                <a:cs typeface="Times New Roman"/>
                <a:sym typeface="Times New Roman"/>
              </a:rPr>
              <a:t>3. Full Condition Logic (Overflow Prevention)</a:t>
            </a:r>
            <a:endParaRPr b="1" sz="1300">
              <a:solidFill>
                <a:schemeClr val="dk1"/>
              </a:solidFill>
              <a:latin typeface="Times New Roman"/>
              <a:ea typeface="Times New Roman"/>
              <a:cs typeface="Times New Roman"/>
              <a:sym typeface="Times New Roman"/>
            </a:endParaRPr>
          </a:p>
          <a:p>
            <a:pPr indent="-298450" lvl="0" marL="457200" rtl="0" algn="l">
              <a:spcBef>
                <a:spcPts val="40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Mechanism:</a:t>
            </a:r>
            <a:r>
              <a:rPr lang="en" sz="1100">
                <a:solidFill>
                  <a:schemeClr val="dk1"/>
                </a:solidFill>
                <a:latin typeface="Times New Roman"/>
                <a:ea typeface="Times New Roman"/>
                <a:cs typeface="Times New Roman"/>
                <a:sym typeface="Times New Roman"/>
              </a:rPr>
              <a:t> The </a:t>
            </a:r>
            <a:r>
              <a:rPr lang="en" sz="1100">
                <a:solidFill>
                  <a:srgbClr val="188038"/>
                </a:solidFill>
                <a:latin typeface="Times New Roman"/>
                <a:ea typeface="Times New Roman"/>
                <a:cs typeface="Times New Roman"/>
                <a:sym typeface="Times New Roman"/>
              </a:rPr>
              <a:t>wptr_full</a:t>
            </a:r>
            <a:r>
              <a:rPr lang="en" sz="1100">
                <a:solidFill>
                  <a:schemeClr val="dk1"/>
                </a:solidFill>
                <a:latin typeface="Times New Roman"/>
                <a:ea typeface="Times New Roman"/>
                <a:cs typeface="Times New Roman"/>
                <a:sym typeface="Times New Roman"/>
              </a:rPr>
              <a:t> module compares the </a:t>
            </a:r>
            <a:r>
              <a:rPr b="1" lang="en" sz="1100">
                <a:solidFill>
                  <a:schemeClr val="dk1"/>
                </a:solidFill>
                <a:latin typeface="Times New Roman"/>
                <a:ea typeface="Times New Roman"/>
                <a:cs typeface="Times New Roman"/>
                <a:sym typeface="Times New Roman"/>
              </a:rPr>
              <a:t>next</a:t>
            </a:r>
            <a:r>
              <a:rPr lang="en" sz="1100">
                <a:solidFill>
                  <a:schemeClr val="dk1"/>
                </a:solidFill>
                <a:latin typeface="Times New Roman"/>
                <a:ea typeface="Times New Roman"/>
                <a:cs typeface="Times New Roman"/>
                <a:sym typeface="Times New Roman"/>
              </a:rPr>
              <a:t> Gray Write Pointer (</a:t>
            </a:r>
            <a:r>
              <a:rPr lang="en" sz="1100">
                <a:solidFill>
                  <a:srgbClr val="188038"/>
                </a:solidFill>
                <a:latin typeface="Times New Roman"/>
                <a:ea typeface="Times New Roman"/>
                <a:cs typeface="Times New Roman"/>
                <a:sym typeface="Times New Roman"/>
              </a:rPr>
              <a:t>wgnext</a:t>
            </a:r>
            <a:r>
              <a:rPr lang="en" sz="1100">
                <a:solidFill>
                  <a:schemeClr val="dk1"/>
                </a:solidFill>
                <a:latin typeface="Times New Roman"/>
                <a:ea typeface="Times New Roman"/>
                <a:cs typeface="Times New Roman"/>
                <a:sym typeface="Times New Roman"/>
              </a:rPr>
              <a:t>) to the synchronized Read Pointer (</a:t>
            </a:r>
            <a:r>
              <a:rPr lang="en" sz="1100">
                <a:solidFill>
                  <a:srgbClr val="188038"/>
                </a:solidFill>
                <a:latin typeface="Times New Roman"/>
                <a:ea typeface="Times New Roman"/>
                <a:cs typeface="Times New Roman"/>
                <a:sym typeface="Times New Roman"/>
              </a:rPr>
              <a:t>wrptr2</a:t>
            </a:r>
            <a:r>
              <a:rPr lang="en"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Full Flag:</a:t>
            </a:r>
            <a:r>
              <a:rPr lang="en" sz="1100">
                <a:solidFill>
                  <a:schemeClr val="dk1"/>
                </a:solidFill>
                <a:latin typeface="Times New Roman"/>
                <a:ea typeface="Times New Roman"/>
                <a:cs typeface="Times New Roman"/>
                <a:sym typeface="Times New Roman"/>
              </a:rPr>
              <a:t> Declared when the address bits match, but the </a:t>
            </a:r>
            <a:r>
              <a:rPr b="1" lang="en" sz="1100">
                <a:solidFill>
                  <a:schemeClr val="dk1"/>
                </a:solidFill>
                <a:latin typeface="Times New Roman"/>
                <a:ea typeface="Times New Roman"/>
                <a:cs typeface="Times New Roman"/>
                <a:sym typeface="Times New Roman"/>
              </a:rPr>
              <a:t>Most Significant Bit (MSB) of the pointers differs</a:t>
            </a:r>
            <a:r>
              <a:rPr lang="en"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Meaning:</a:t>
            </a:r>
            <a:r>
              <a:rPr lang="en" sz="1100">
                <a:solidFill>
                  <a:schemeClr val="dk1"/>
                </a:solidFill>
                <a:latin typeface="Times New Roman"/>
                <a:ea typeface="Times New Roman"/>
                <a:cs typeface="Times New Roman"/>
                <a:sym typeface="Times New Roman"/>
              </a:rPr>
              <a:t> This MSB difference proves the write pointer has wrapped around exactly one more time than the read pointer, meaning the buffer is completely full and the next write would overwrite existing data.</a:t>
            </a:r>
            <a:endParaRPr sz="1100">
              <a:solidFill>
                <a:schemeClr val="dk1"/>
              </a:solidFill>
              <a:latin typeface="Times New Roman"/>
              <a:ea typeface="Times New Roman"/>
              <a:cs typeface="Times New Roman"/>
              <a:sym typeface="Times New Roman"/>
            </a:endParaRPr>
          </a:p>
          <a:p>
            <a:pPr indent="0" lvl="0" marL="457200" rtl="0" algn="l">
              <a:lnSpc>
                <a:spcPct val="105000"/>
              </a:lnSpc>
              <a:spcBef>
                <a:spcPts val="1200"/>
              </a:spcBef>
              <a:spcAft>
                <a:spcPts val="1200"/>
              </a:spcAft>
              <a:buNone/>
            </a:pPr>
            <a:r>
              <a:t/>
            </a:r>
            <a:endParaRPr b="1" sz="1200" u="sng">
              <a:latin typeface="Times New Roman"/>
              <a:ea typeface="Times New Roman"/>
              <a:cs typeface="Times New Roman"/>
              <a:sym typeface="Times New Roman"/>
            </a:endParaRPr>
          </a:p>
        </p:txBody>
      </p:sp>
      <p:pic>
        <p:nvPicPr>
          <p:cNvPr id="70" name="Google Shape;70;p15"/>
          <p:cNvPicPr preferRelativeResize="0"/>
          <p:nvPr/>
        </p:nvPicPr>
        <p:blipFill>
          <a:blip r:embed="rId3">
            <a:alphaModFix/>
          </a:blip>
          <a:stretch>
            <a:fillRect/>
          </a:stretch>
        </p:blipFill>
        <p:spPr>
          <a:xfrm>
            <a:off x="7501306" y="-1"/>
            <a:ext cx="1642694" cy="792600"/>
          </a:xfrm>
          <a:prstGeom prst="rect">
            <a:avLst/>
          </a:prstGeom>
          <a:noFill/>
          <a:ln>
            <a:noFill/>
          </a:ln>
        </p:spPr>
      </p:pic>
      <p:sp>
        <p:nvSpPr>
          <p:cNvPr id="71" name="Google Shape;71;p15"/>
          <p:cNvSpPr txBox="1"/>
          <p:nvPr/>
        </p:nvSpPr>
        <p:spPr>
          <a:xfrm>
            <a:off x="158150" y="441600"/>
            <a:ext cx="5614800" cy="3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Georgia"/>
                <a:ea typeface="Georgia"/>
                <a:cs typeface="Georgia"/>
                <a:sym typeface="Georgia"/>
              </a:rPr>
              <a:t>Primary Function and Write Domain (WCLK)</a:t>
            </a:r>
            <a:endParaRPr sz="1800">
              <a:solidFill>
                <a:schemeClr val="dk1"/>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234925" y="-265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Georgia"/>
                <a:ea typeface="Georgia"/>
                <a:cs typeface="Georgia"/>
                <a:sym typeface="Georgia"/>
              </a:rPr>
              <a:t>Design</a:t>
            </a:r>
            <a:endParaRPr>
              <a:latin typeface="Georgia"/>
              <a:ea typeface="Georgia"/>
              <a:cs typeface="Georgia"/>
              <a:sym typeface="Georgia"/>
            </a:endParaRPr>
          </a:p>
        </p:txBody>
      </p:sp>
      <p:sp>
        <p:nvSpPr>
          <p:cNvPr id="77" name="Google Shape;77;p16"/>
          <p:cNvSpPr txBox="1"/>
          <p:nvPr>
            <p:ph idx="1" type="body"/>
          </p:nvPr>
        </p:nvSpPr>
        <p:spPr>
          <a:xfrm>
            <a:off x="136075" y="904550"/>
            <a:ext cx="86748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852"/>
              <a:buFont typeface="Arial"/>
              <a:buNone/>
            </a:pPr>
            <a:r>
              <a:rPr b="1" lang="en" sz="1307">
                <a:solidFill>
                  <a:schemeClr val="dk1"/>
                </a:solidFill>
                <a:latin typeface="Times New Roman"/>
                <a:ea typeface="Times New Roman"/>
                <a:cs typeface="Times New Roman"/>
                <a:sym typeface="Times New Roman"/>
              </a:rPr>
              <a:t> 4.Read Domain Components (</a:t>
            </a:r>
            <a:r>
              <a:rPr b="1" lang="en" sz="1307">
                <a:solidFill>
                  <a:srgbClr val="188038"/>
                </a:solidFill>
                <a:latin typeface="Times New Roman"/>
                <a:ea typeface="Times New Roman"/>
                <a:cs typeface="Times New Roman"/>
                <a:sym typeface="Times New Roman"/>
              </a:rPr>
              <a:t>rclk</a:t>
            </a:r>
            <a:r>
              <a:rPr b="1" lang="en" sz="1307">
                <a:solidFill>
                  <a:schemeClr val="dk1"/>
                </a:solidFill>
                <a:latin typeface="Times New Roman"/>
                <a:ea typeface="Times New Roman"/>
                <a:cs typeface="Times New Roman"/>
                <a:sym typeface="Times New Roman"/>
              </a:rPr>
              <a:t>)</a:t>
            </a:r>
            <a:endParaRPr b="1" sz="1307">
              <a:solidFill>
                <a:schemeClr val="dk1"/>
              </a:solidFill>
              <a:latin typeface="Times New Roman"/>
              <a:ea typeface="Times New Roman"/>
              <a:cs typeface="Times New Roman"/>
              <a:sym typeface="Times New Roman"/>
            </a:endParaRPr>
          </a:p>
          <a:p>
            <a:pPr indent="-301783" lvl="0" marL="457200" rtl="0" algn="l">
              <a:lnSpc>
                <a:spcPct val="95000"/>
              </a:lnSpc>
              <a:spcBef>
                <a:spcPts val="1200"/>
              </a:spcBef>
              <a:spcAft>
                <a:spcPts val="0"/>
              </a:spcAft>
              <a:buClr>
                <a:schemeClr val="dk1"/>
              </a:buClr>
              <a:buSzPts val="1153"/>
              <a:buChar char="●"/>
            </a:pPr>
            <a:r>
              <a:rPr b="1" lang="en" sz="1152">
                <a:solidFill>
                  <a:schemeClr val="dk1"/>
                </a:solidFill>
                <a:latin typeface="Times New Roman"/>
                <a:ea typeface="Times New Roman"/>
                <a:cs typeface="Times New Roman"/>
                <a:sym typeface="Times New Roman"/>
              </a:rPr>
              <a:t>Read Pointer Logic (</a:t>
            </a:r>
            <a:r>
              <a:rPr b="1" lang="en" sz="1152">
                <a:solidFill>
                  <a:srgbClr val="188038"/>
                </a:solidFill>
                <a:latin typeface="Times New Roman"/>
                <a:ea typeface="Times New Roman"/>
                <a:cs typeface="Times New Roman"/>
                <a:sym typeface="Times New Roman"/>
              </a:rPr>
              <a:t>rptr_empty</a:t>
            </a:r>
            <a:r>
              <a:rPr b="1" lang="en" sz="1152">
                <a:solidFill>
                  <a:schemeClr val="dk1"/>
                </a:solidFill>
                <a:latin typeface="Times New Roman"/>
                <a:ea typeface="Times New Roman"/>
                <a:cs typeface="Times New Roman"/>
                <a:sym typeface="Times New Roman"/>
              </a:rPr>
              <a:t>):</a:t>
            </a:r>
            <a:r>
              <a:rPr lang="en" sz="1152">
                <a:solidFill>
                  <a:schemeClr val="dk1"/>
                </a:solidFill>
                <a:latin typeface="Times New Roman"/>
                <a:ea typeface="Times New Roman"/>
                <a:cs typeface="Times New Roman"/>
                <a:sym typeface="Times New Roman"/>
              </a:rPr>
              <a:t> This module manages data output flow and operates entirely on </a:t>
            </a:r>
            <a:r>
              <a:rPr lang="en" sz="1152">
                <a:solidFill>
                  <a:srgbClr val="188038"/>
                </a:solidFill>
                <a:latin typeface="Times New Roman"/>
                <a:ea typeface="Times New Roman"/>
                <a:cs typeface="Times New Roman"/>
                <a:sym typeface="Times New Roman"/>
              </a:rPr>
              <a:t>rclk</a:t>
            </a:r>
            <a:r>
              <a:rPr lang="en" sz="1152">
                <a:solidFill>
                  <a:schemeClr val="dk1"/>
                </a:solidFill>
                <a:latin typeface="Times New Roman"/>
                <a:ea typeface="Times New Roman"/>
                <a:cs typeface="Times New Roman"/>
                <a:sym typeface="Times New Roman"/>
              </a:rPr>
              <a:t>.</a:t>
            </a:r>
            <a:endParaRPr sz="1152">
              <a:solidFill>
                <a:schemeClr val="dk1"/>
              </a:solidFill>
              <a:latin typeface="Times New Roman"/>
              <a:ea typeface="Times New Roman"/>
              <a:cs typeface="Times New Roman"/>
              <a:sym typeface="Times New Roman"/>
            </a:endParaRPr>
          </a:p>
          <a:p>
            <a:pPr indent="-301783" lvl="1" marL="914400" rtl="0" algn="l">
              <a:lnSpc>
                <a:spcPct val="95000"/>
              </a:lnSpc>
              <a:spcBef>
                <a:spcPts val="0"/>
              </a:spcBef>
              <a:spcAft>
                <a:spcPts val="0"/>
              </a:spcAft>
              <a:buClr>
                <a:schemeClr val="dk1"/>
              </a:buClr>
              <a:buSzPts val="1153"/>
              <a:buChar char="○"/>
            </a:pPr>
            <a:r>
              <a:rPr lang="en" sz="1152">
                <a:solidFill>
                  <a:schemeClr val="dk1"/>
                </a:solidFill>
                <a:latin typeface="Times New Roman"/>
                <a:ea typeface="Times New Roman"/>
                <a:cs typeface="Times New Roman"/>
                <a:sym typeface="Times New Roman"/>
              </a:rPr>
              <a:t>It generates the memory address (</a:t>
            </a:r>
            <a:r>
              <a:rPr lang="en" sz="1152">
                <a:solidFill>
                  <a:srgbClr val="188038"/>
                </a:solidFill>
                <a:latin typeface="Times New Roman"/>
                <a:ea typeface="Times New Roman"/>
                <a:cs typeface="Times New Roman"/>
                <a:sym typeface="Times New Roman"/>
              </a:rPr>
              <a:t>raddr</a:t>
            </a:r>
            <a:r>
              <a:rPr lang="en" sz="1152">
                <a:solidFill>
                  <a:schemeClr val="dk1"/>
                </a:solidFill>
                <a:latin typeface="Times New Roman"/>
                <a:ea typeface="Times New Roman"/>
                <a:cs typeface="Times New Roman"/>
                <a:sym typeface="Times New Roman"/>
              </a:rPr>
              <a:t>) and the output status flag (</a:t>
            </a:r>
            <a:r>
              <a:rPr lang="en" sz="1152">
                <a:solidFill>
                  <a:srgbClr val="188038"/>
                </a:solidFill>
                <a:latin typeface="Times New Roman"/>
                <a:ea typeface="Times New Roman"/>
                <a:cs typeface="Times New Roman"/>
                <a:sym typeface="Times New Roman"/>
              </a:rPr>
              <a:t>rempty</a:t>
            </a:r>
            <a:r>
              <a:rPr lang="en" sz="1152">
                <a:solidFill>
                  <a:schemeClr val="dk1"/>
                </a:solidFill>
                <a:latin typeface="Times New Roman"/>
                <a:ea typeface="Times New Roman"/>
                <a:cs typeface="Times New Roman"/>
                <a:sym typeface="Times New Roman"/>
              </a:rPr>
              <a:t>).</a:t>
            </a:r>
            <a:endParaRPr sz="1152">
              <a:solidFill>
                <a:schemeClr val="dk1"/>
              </a:solidFill>
              <a:latin typeface="Times New Roman"/>
              <a:ea typeface="Times New Roman"/>
              <a:cs typeface="Times New Roman"/>
              <a:sym typeface="Times New Roman"/>
            </a:endParaRPr>
          </a:p>
          <a:p>
            <a:pPr indent="-301783" lvl="0" marL="457200" rtl="0" algn="l">
              <a:lnSpc>
                <a:spcPct val="95000"/>
              </a:lnSpc>
              <a:spcBef>
                <a:spcPts val="0"/>
              </a:spcBef>
              <a:spcAft>
                <a:spcPts val="0"/>
              </a:spcAft>
              <a:buClr>
                <a:schemeClr val="dk1"/>
              </a:buClr>
              <a:buSzPts val="1153"/>
              <a:buChar char="●"/>
            </a:pPr>
            <a:r>
              <a:rPr b="1" lang="en" sz="1152">
                <a:solidFill>
                  <a:schemeClr val="dk1"/>
                </a:solidFill>
                <a:latin typeface="Times New Roman"/>
                <a:ea typeface="Times New Roman"/>
                <a:cs typeface="Times New Roman"/>
                <a:sym typeface="Times New Roman"/>
              </a:rPr>
              <a:t>Synchronization (</a:t>
            </a:r>
            <a:r>
              <a:rPr b="1" lang="en" sz="1152">
                <a:solidFill>
                  <a:srgbClr val="188038"/>
                </a:solidFill>
                <a:latin typeface="Times New Roman"/>
                <a:ea typeface="Times New Roman"/>
                <a:cs typeface="Times New Roman"/>
                <a:sym typeface="Times New Roman"/>
              </a:rPr>
              <a:t>sync_w2r</a:t>
            </a:r>
            <a:r>
              <a:rPr b="1" lang="en" sz="1152">
                <a:solidFill>
                  <a:schemeClr val="dk1"/>
                </a:solidFill>
                <a:latin typeface="Times New Roman"/>
                <a:ea typeface="Times New Roman"/>
                <a:cs typeface="Times New Roman"/>
                <a:sym typeface="Times New Roman"/>
              </a:rPr>
              <a:t>):</a:t>
            </a:r>
            <a:endParaRPr b="1" sz="1152">
              <a:solidFill>
                <a:schemeClr val="dk1"/>
              </a:solidFill>
              <a:latin typeface="Times New Roman"/>
              <a:ea typeface="Times New Roman"/>
              <a:cs typeface="Times New Roman"/>
              <a:sym typeface="Times New Roman"/>
            </a:endParaRPr>
          </a:p>
          <a:p>
            <a:pPr indent="-301783" lvl="1" marL="914400" rtl="0" algn="l">
              <a:lnSpc>
                <a:spcPct val="95000"/>
              </a:lnSpc>
              <a:spcBef>
                <a:spcPts val="0"/>
              </a:spcBef>
              <a:spcAft>
                <a:spcPts val="0"/>
              </a:spcAft>
              <a:buClr>
                <a:schemeClr val="dk1"/>
              </a:buClr>
              <a:buSzPts val="1153"/>
              <a:buChar char="○"/>
            </a:pPr>
            <a:r>
              <a:rPr lang="en" sz="1152">
                <a:solidFill>
                  <a:schemeClr val="dk1"/>
                </a:solidFill>
                <a:latin typeface="Times New Roman"/>
                <a:ea typeface="Times New Roman"/>
                <a:cs typeface="Times New Roman"/>
                <a:sym typeface="Times New Roman"/>
              </a:rPr>
              <a:t>This component transfers the </a:t>
            </a:r>
            <a:r>
              <a:rPr b="1" lang="en" sz="1152">
                <a:solidFill>
                  <a:schemeClr val="dk1"/>
                </a:solidFill>
                <a:latin typeface="Times New Roman"/>
                <a:ea typeface="Times New Roman"/>
                <a:cs typeface="Times New Roman"/>
                <a:sym typeface="Times New Roman"/>
              </a:rPr>
              <a:t>Write Pointer (</a:t>
            </a:r>
            <a:r>
              <a:rPr b="1" lang="en" sz="1152">
                <a:solidFill>
                  <a:srgbClr val="188038"/>
                </a:solidFill>
                <a:latin typeface="Times New Roman"/>
                <a:ea typeface="Times New Roman"/>
                <a:cs typeface="Times New Roman"/>
                <a:sym typeface="Times New Roman"/>
              </a:rPr>
              <a:t>wptr</a:t>
            </a:r>
            <a:r>
              <a:rPr b="1" lang="en" sz="1152">
                <a:solidFill>
                  <a:schemeClr val="dk1"/>
                </a:solidFill>
                <a:latin typeface="Times New Roman"/>
                <a:ea typeface="Times New Roman"/>
                <a:cs typeface="Times New Roman"/>
                <a:sym typeface="Times New Roman"/>
              </a:rPr>
              <a:t>)</a:t>
            </a:r>
            <a:r>
              <a:rPr lang="en" sz="1152">
                <a:solidFill>
                  <a:schemeClr val="dk1"/>
                </a:solidFill>
                <a:latin typeface="Times New Roman"/>
                <a:ea typeface="Times New Roman"/>
                <a:cs typeface="Times New Roman"/>
                <a:sym typeface="Times New Roman"/>
              </a:rPr>
              <a:t> from the </a:t>
            </a:r>
            <a:r>
              <a:rPr lang="en" sz="1152">
                <a:solidFill>
                  <a:srgbClr val="188038"/>
                </a:solidFill>
                <a:latin typeface="Times New Roman"/>
                <a:ea typeface="Times New Roman"/>
                <a:cs typeface="Times New Roman"/>
                <a:sym typeface="Times New Roman"/>
              </a:rPr>
              <a:t>wclk</a:t>
            </a:r>
            <a:r>
              <a:rPr lang="en" sz="1152">
                <a:solidFill>
                  <a:schemeClr val="dk1"/>
                </a:solidFill>
                <a:latin typeface="Times New Roman"/>
                <a:ea typeface="Times New Roman"/>
                <a:cs typeface="Times New Roman"/>
                <a:sym typeface="Times New Roman"/>
              </a:rPr>
              <a:t> domain to the </a:t>
            </a:r>
            <a:r>
              <a:rPr lang="en" sz="1152">
                <a:solidFill>
                  <a:srgbClr val="188038"/>
                </a:solidFill>
                <a:latin typeface="Times New Roman"/>
                <a:ea typeface="Times New Roman"/>
                <a:cs typeface="Times New Roman"/>
                <a:sym typeface="Times New Roman"/>
              </a:rPr>
              <a:t>rclk</a:t>
            </a:r>
            <a:r>
              <a:rPr lang="en" sz="1152">
                <a:solidFill>
                  <a:schemeClr val="dk1"/>
                </a:solidFill>
                <a:latin typeface="Times New Roman"/>
                <a:ea typeface="Times New Roman"/>
                <a:cs typeface="Times New Roman"/>
                <a:sym typeface="Times New Roman"/>
              </a:rPr>
              <a:t> domain, creating the signal </a:t>
            </a:r>
            <a:r>
              <a:rPr b="1" lang="en" sz="1152">
                <a:solidFill>
                  <a:srgbClr val="188038"/>
                </a:solidFill>
                <a:latin typeface="Times New Roman"/>
                <a:ea typeface="Times New Roman"/>
                <a:cs typeface="Times New Roman"/>
                <a:sym typeface="Times New Roman"/>
              </a:rPr>
              <a:t>rwptr2</a:t>
            </a:r>
            <a:r>
              <a:rPr lang="en" sz="1152">
                <a:solidFill>
                  <a:schemeClr val="dk1"/>
                </a:solidFill>
                <a:latin typeface="Times New Roman"/>
                <a:ea typeface="Times New Roman"/>
                <a:cs typeface="Times New Roman"/>
                <a:sym typeface="Times New Roman"/>
              </a:rPr>
              <a:t>. This is necessary for checking the </a:t>
            </a:r>
            <a:r>
              <a:rPr b="1" lang="en" sz="1152">
                <a:solidFill>
                  <a:schemeClr val="dk1"/>
                </a:solidFill>
                <a:latin typeface="Times New Roman"/>
                <a:ea typeface="Times New Roman"/>
                <a:cs typeface="Times New Roman"/>
                <a:sym typeface="Times New Roman"/>
              </a:rPr>
              <a:t>Empty</a:t>
            </a:r>
            <a:r>
              <a:rPr lang="en" sz="1152">
                <a:solidFill>
                  <a:schemeClr val="dk1"/>
                </a:solidFill>
                <a:latin typeface="Times New Roman"/>
                <a:ea typeface="Times New Roman"/>
                <a:cs typeface="Times New Roman"/>
                <a:sym typeface="Times New Roman"/>
              </a:rPr>
              <a:t> condition.</a:t>
            </a:r>
            <a:endParaRPr sz="1152">
              <a:solidFill>
                <a:schemeClr val="dk1"/>
              </a:solidFill>
              <a:latin typeface="Times New Roman"/>
              <a:ea typeface="Times New Roman"/>
              <a:cs typeface="Times New Roman"/>
              <a:sym typeface="Times New Roman"/>
            </a:endParaRPr>
          </a:p>
          <a:p>
            <a:pPr indent="0" lvl="0" marL="0" rtl="0" algn="l">
              <a:lnSpc>
                <a:spcPct val="95000"/>
              </a:lnSpc>
              <a:spcBef>
                <a:spcPts val="1400"/>
              </a:spcBef>
              <a:spcAft>
                <a:spcPts val="0"/>
              </a:spcAft>
              <a:buClr>
                <a:schemeClr val="dk1"/>
              </a:buClr>
              <a:buSzPts val="852"/>
              <a:buFont typeface="Arial"/>
              <a:buNone/>
            </a:pPr>
            <a:r>
              <a:rPr b="1" lang="en" sz="1307">
                <a:solidFill>
                  <a:schemeClr val="dk1"/>
                </a:solidFill>
                <a:latin typeface="Times New Roman"/>
                <a:ea typeface="Times New Roman"/>
                <a:cs typeface="Times New Roman"/>
                <a:sym typeface="Times New Roman"/>
              </a:rPr>
              <a:t>5. Empty Condition Logic (Underflow Prevention)</a:t>
            </a:r>
            <a:endParaRPr b="1" sz="1307">
              <a:solidFill>
                <a:schemeClr val="dk1"/>
              </a:solidFill>
              <a:latin typeface="Times New Roman"/>
              <a:ea typeface="Times New Roman"/>
              <a:cs typeface="Times New Roman"/>
              <a:sym typeface="Times New Roman"/>
            </a:endParaRPr>
          </a:p>
          <a:p>
            <a:pPr indent="-301783" lvl="0" marL="457200" rtl="0" algn="l">
              <a:lnSpc>
                <a:spcPct val="95000"/>
              </a:lnSpc>
              <a:spcBef>
                <a:spcPts val="1200"/>
              </a:spcBef>
              <a:spcAft>
                <a:spcPts val="0"/>
              </a:spcAft>
              <a:buClr>
                <a:schemeClr val="dk1"/>
              </a:buClr>
              <a:buSzPts val="1153"/>
              <a:buChar char="●"/>
            </a:pPr>
            <a:r>
              <a:rPr b="1" lang="en" sz="1152">
                <a:solidFill>
                  <a:schemeClr val="dk1"/>
                </a:solidFill>
                <a:latin typeface="Times New Roman"/>
                <a:ea typeface="Times New Roman"/>
                <a:cs typeface="Times New Roman"/>
                <a:sym typeface="Times New Roman"/>
              </a:rPr>
              <a:t>Mechanism:</a:t>
            </a:r>
            <a:r>
              <a:rPr lang="en" sz="1152">
                <a:solidFill>
                  <a:schemeClr val="dk1"/>
                </a:solidFill>
                <a:latin typeface="Times New Roman"/>
                <a:ea typeface="Times New Roman"/>
                <a:cs typeface="Times New Roman"/>
                <a:sym typeface="Times New Roman"/>
              </a:rPr>
              <a:t> The </a:t>
            </a:r>
            <a:r>
              <a:rPr lang="en" sz="1152">
                <a:solidFill>
                  <a:srgbClr val="188038"/>
                </a:solidFill>
                <a:latin typeface="Times New Roman"/>
                <a:ea typeface="Times New Roman"/>
                <a:cs typeface="Times New Roman"/>
                <a:sym typeface="Times New Roman"/>
              </a:rPr>
              <a:t>rptr_empty</a:t>
            </a:r>
            <a:r>
              <a:rPr lang="en" sz="1152">
                <a:solidFill>
                  <a:schemeClr val="dk1"/>
                </a:solidFill>
                <a:latin typeface="Times New Roman"/>
                <a:ea typeface="Times New Roman"/>
                <a:cs typeface="Times New Roman"/>
                <a:sym typeface="Times New Roman"/>
              </a:rPr>
              <a:t> module compares the </a:t>
            </a:r>
            <a:r>
              <a:rPr b="1" lang="en" sz="1152">
                <a:solidFill>
                  <a:schemeClr val="dk1"/>
                </a:solidFill>
                <a:latin typeface="Times New Roman"/>
                <a:ea typeface="Times New Roman"/>
                <a:cs typeface="Times New Roman"/>
                <a:sym typeface="Times New Roman"/>
              </a:rPr>
              <a:t>next</a:t>
            </a:r>
            <a:r>
              <a:rPr lang="en" sz="1152">
                <a:solidFill>
                  <a:schemeClr val="dk1"/>
                </a:solidFill>
                <a:latin typeface="Times New Roman"/>
                <a:ea typeface="Times New Roman"/>
                <a:cs typeface="Times New Roman"/>
                <a:sym typeface="Times New Roman"/>
              </a:rPr>
              <a:t> Gray Read Pointer (</a:t>
            </a:r>
            <a:r>
              <a:rPr lang="en" sz="1152">
                <a:solidFill>
                  <a:srgbClr val="188038"/>
                </a:solidFill>
                <a:latin typeface="Times New Roman"/>
                <a:ea typeface="Times New Roman"/>
                <a:cs typeface="Times New Roman"/>
                <a:sym typeface="Times New Roman"/>
              </a:rPr>
              <a:t>rgnext</a:t>
            </a:r>
            <a:r>
              <a:rPr lang="en" sz="1152">
                <a:solidFill>
                  <a:schemeClr val="dk1"/>
                </a:solidFill>
                <a:latin typeface="Times New Roman"/>
                <a:ea typeface="Times New Roman"/>
                <a:cs typeface="Times New Roman"/>
                <a:sym typeface="Times New Roman"/>
              </a:rPr>
              <a:t>) to the synchronized Write Pointer (</a:t>
            </a:r>
            <a:r>
              <a:rPr lang="en" sz="1152">
                <a:solidFill>
                  <a:srgbClr val="188038"/>
                </a:solidFill>
                <a:latin typeface="Times New Roman"/>
                <a:ea typeface="Times New Roman"/>
                <a:cs typeface="Times New Roman"/>
                <a:sym typeface="Times New Roman"/>
              </a:rPr>
              <a:t>rwptr2</a:t>
            </a:r>
            <a:r>
              <a:rPr lang="en" sz="1152">
                <a:solidFill>
                  <a:schemeClr val="dk1"/>
                </a:solidFill>
                <a:latin typeface="Times New Roman"/>
                <a:ea typeface="Times New Roman"/>
                <a:cs typeface="Times New Roman"/>
                <a:sym typeface="Times New Roman"/>
              </a:rPr>
              <a:t>).</a:t>
            </a:r>
            <a:endParaRPr sz="1152">
              <a:solidFill>
                <a:schemeClr val="dk1"/>
              </a:solidFill>
              <a:latin typeface="Times New Roman"/>
              <a:ea typeface="Times New Roman"/>
              <a:cs typeface="Times New Roman"/>
              <a:sym typeface="Times New Roman"/>
            </a:endParaRPr>
          </a:p>
          <a:p>
            <a:pPr indent="-301783" lvl="0" marL="457200" rtl="0" algn="l">
              <a:lnSpc>
                <a:spcPct val="95000"/>
              </a:lnSpc>
              <a:spcBef>
                <a:spcPts val="0"/>
              </a:spcBef>
              <a:spcAft>
                <a:spcPts val="0"/>
              </a:spcAft>
              <a:buClr>
                <a:schemeClr val="dk1"/>
              </a:buClr>
              <a:buSzPts val="1153"/>
              <a:buChar char="●"/>
            </a:pPr>
            <a:r>
              <a:rPr b="1" lang="en" sz="1152">
                <a:solidFill>
                  <a:schemeClr val="dk1"/>
                </a:solidFill>
                <a:latin typeface="Times New Roman"/>
                <a:ea typeface="Times New Roman"/>
                <a:cs typeface="Times New Roman"/>
                <a:sym typeface="Times New Roman"/>
              </a:rPr>
              <a:t>Empty Flag:</a:t>
            </a:r>
            <a:r>
              <a:rPr lang="en" sz="1152">
                <a:solidFill>
                  <a:schemeClr val="dk1"/>
                </a:solidFill>
                <a:latin typeface="Times New Roman"/>
                <a:ea typeface="Times New Roman"/>
                <a:cs typeface="Times New Roman"/>
                <a:sym typeface="Times New Roman"/>
              </a:rPr>
              <a:t> Declared when the </a:t>
            </a:r>
            <a:r>
              <a:rPr b="1" lang="en" sz="1152">
                <a:solidFill>
                  <a:schemeClr val="dk1"/>
                </a:solidFill>
                <a:latin typeface="Times New Roman"/>
                <a:ea typeface="Times New Roman"/>
                <a:cs typeface="Times New Roman"/>
                <a:sym typeface="Times New Roman"/>
              </a:rPr>
              <a:t>next Gray Read Pointer is exactly equal to the synchronized Write Pointer</a:t>
            </a:r>
            <a:r>
              <a:rPr lang="en" sz="1152">
                <a:solidFill>
                  <a:schemeClr val="dk1"/>
                </a:solidFill>
                <a:latin typeface="Times New Roman"/>
                <a:ea typeface="Times New Roman"/>
                <a:cs typeface="Times New Roman"/>
                <a:sym typeface="Times New Roman"/>
              </a:rPr>
              <a:t>.</a:t>
            </a:r>
            <a:endParaRPr sz="1152">
              <a:solidFill>
                <a:schemeClr val="dk1"/>
              </a:solidFill>
              <a:latin typeface="Times New Roman"/>
              <a:ea typeface="Times New Roman"/>
              <a:cs typeface="Times New Roman"/>
              <a:sym typeface="Times New Roman"/>
            </a:endParaRPr>
          </a:p>
          <a:p>
            <a:pPr indent="-301783" lvl="0" marL="457200" rtl="0" algn="l">
              <a:lnSpc>
                <a:spcPct val="95000"/>
              </a:lnSpc>
              <a:spcBef>
                <a:spcPts val="0"/>
              </a:spcBef>
              <a:spcAft>
                <a:spcPts val="0"/>
              </a:spcAft>
              <a:buClr>
                <a:schemeClr val="dk1"/>
              </a:buClr>
              <a:buSzPts val="1153"/>
              <a:buChar char="●"/>
            </a:pPr>
            <a:r>
              <a:rPr b="1" lang="en" sz="1152">
                <a:solidFill>
                  <a:schemeClr val="dk1"/>
                </a:solidFill>
                <a:latin typeface="Times New Roman"/>
                <a:ea typeface="Times New Roman"/>
                <a:cs typeface="Times New Roman"/>
                <a:sym typeface="Times New Roman"/>
              </a:rPr>
              <a:t>Meaning:</a:t>
            </a:r>
            <a:r>
              <a:rPr lang="en" sz="1152">
                <a:solidFill>
                  <a:schemeClr val="dk1"/>
                </a:solidFill>
                <a:latin typeface="Times New Roman"/>
                <a:ea typeface="Times New Roman"/>
                <a:cs typeface="Times New Roman"/>
                <a:sym typeface="Times New Roman"/>
              </a:rPr>
              <a:t> This means the read pointer has caught up to the write pointer, and there is no valid data left in the FIFO.</a:t>
            </a:r>
            <a:endParaRPr sz="1152">
              <a:solidFill>
                <a:schemeClr val="dk1"/>
              </a:solidFill>
              <a:latin typeface="Times New Roman"/>
              <a:ea typeface="Times New Roman"/>
              <a:cs typeface="Times New Roman"/>
              <a:sym typeface="Times New Roman"/>
            </a:endParaRPr>
          </a:p>
          <a:p>
            <a:pPr indent="0" lvl="0" marL="0" rtl="0" algn="l">
              <a:lnSpc>
                <a:spcPct val="95000"/>
              </a:lnSpc>
              <a:spcBef>
                <a:spcPts val="1400"/>
              </a:spcBef>
              <a:spcAft>
                <a:spcPts val="0"/>
              </a:spcAft>
              <a:buClr>
                <a:schemeClr val="dk1"/>
              </a:buClr>
              <a:buSzPts val="852"/>
              <a:buFont typeface="Arial"/>
              <a:buNone/>
            </a:pPr>
            <a:r>
              <a:rPr b="1" lang="en" sz="1307">
                <a:solidFill>
                  <a:schemeClr val="dk1"/>
                </a:solidFill>
                <a:latin typeface="Times New Roman"/>
                <a:ea typeface="Times New Roman"/>
                <a:cs typeface="Times New Roman"/>
                <a:sym typeface="Times New Roman"/>
              </a:rPr>
              <a:t>6. Clock Domain Crossing (CDC) Safety</a:t>
            </a:r>
            <a:endParaRPr b="1" sz="1407">
              <a:solidFill>
                <a:schemeClr val="dk1"/>
              </a:solidFill>
              <a:latin typeface="Times New Roman"/>
              <a:ea typeface="Times New Roman"/>
              <a:cs typeface="Times New Roman"/>
              <a:sym typeface="Times New Roman"/>
            </a:endParaRPr>
          </a:p>
          <a:p>
            <a:pPr indent="-301783" lvl="0" marL="457200" rtl="0" algn="l">
              <a:lnSpc>
                <a:spcPct val="95000"/>
              </a:lnSpc>
              <a:spcBef>
                <a:spcPts val="1200"/>
              </a:spcBef>
              <a:spcAft>
                <a:spcPts val="0"/>
              </a:spcAft>
              <a:buClr>
                <a:schemeClr val="dk1"/>
              </a:buClr>
              <a:buSzPts val="1153"/>
              <a:buChar char="●"/>
            </a:pPr>
            <a:r>
              <a:rPr b="1" lang="en" sz="1152">
                <a:solidFill>
                  <a:schemeClr val="dk1"/>
                </a:solidFill>
                <a:latin typeface="Times New Roman"/>
                <a:ea typeface="Times New Roman"/>
                <a:cs typeface="Times New Roman"/>
                <a:sym typeface="Times New Roman"/>
              </a:rPr>
              <a:t>Pointers &amp; Gray Code:</a:t>
            </a:r>
            <a:r>
              <a:rPr lang="en" sz="1152">
                <a:solidFill>
                  <a:schemeClr val="dk1"/>
                </a:solidFill>
                <a:latin typeface="Times New Roman"/>
                <a:ea typeface="Times New Roman"/>
                <a:cs typeface="Times New Roman"/>
                <a:sym typeface="Times New Roman"/>
              </a:rPr>
              <a:t> We use </a:t>
            </a:r>
            <a:r>
              <a:rPr b="1" lang="en" sz="1152">
                <a:solidFill>
                  <a:schemeClr val="dk1"/>
                </a:solidFill>
                <a:latin typeface="Times New Roman"/>
                <a:ea typeface="Times New Roman"/>
                <a:cs typeface="Times New Roman"/>
                <a:sym typeface="Times New Roman"/>
              </a:rPr>
              <a:t>Gray Code Pointers</a:t>
            </a:r>
            <a:r>
              <a:rPr lang="en" sz="1152">
                <a:solidFill>
                  <a:schemeClr val="dk1"/>
                </a:solidFill>
                <a:latin typeface="Times New Roman"/>
                <a:ea typeface="Times New Roman"/>
                <a:cs typeface="Times New Roman"/>
                <a:sym typeface="Times New Roman"/>
              </a:rPr>
              <a:t> (5 bits wide) instead of standard binary.</a:t>
            </a:r>
            <a:endParaRPr sz="1152">
              <a:solidFill>
                <a:schemeClr val="dk1"/>
              </a:solidFill>
              <a:latin typeface="Times New Roman"/>
              <a:ea typeface="Times New Roman"/>
              <a:cs typeface="Times New Roman"/>
              <a:sym typeface="Times New Roman"/>
            </a:endParaRPr>
          </a:p>
          <a:p>
            <a:pPr indent="-301783" lvl="1" marL="914400" rtl="0" algn="l">
              <a:lnSpc>
                <a:spcPct val="95000"/>
              </a:lnSpc>
              <a:spcBef>
                <a:spcPts val="0"/>
              </a:spcBef>
              <a:spcAft>
                <a:spcPts val="0"/>
              </a:spcAft>
              <a:buClr>
                <a:schemeClr val="dk1"/>
              </a:buClr>
              <a:buSzPts val="1153"/>
              <a:buChar char="○"/>
            </a:pPr>
            <a:r>
              <a:rPr b="1" lang="en" sz="1152">
                <a:solidFill>
                  <a:schemeClr val="dk1"/>
                </a:solidFill>
                <a:latin typeface="Times New Roman"/>
                <a:ea typeface="Times New Roman"/>
                <a:cs typeface="Times New Roman"/>
                <a:sym typeface="Times New Roman"/>
              </a:rPr>
              <a:t>Reason:</a:t>
            </a:r>
            <a:r>
              <a:rPr lang="en" sz="1152">
                <a:solidFill>
                  <a:schemeClr val="dk1"/>
                </a:solidFill>
                <a:latin typeface="Times New Roman"/>
                <a:ea typeface="Times New Roman"/>
                <a:cs typeface="Times New Roman"/>
                <a:sym typeface="Times New Roman"/>
              </a:rPr>
              <a:t> Gray code ensures only </a:t>
            </a:r>
            <a:r>
              <a:rPr b="1" lang="en" sz="1152">
                <a:solidFill>
                  <a:schemeClr val="dk1"/>
                </a:solidFill>
                <a:latin typeface="Times New Roman"/>
                <a:ea typeface="Times New Roman"/>
                <a:cs typeface="Times New Roman"/>
                <a:sym typeface="Times New Roman"/>
              </a:rPr>
              <a:t>one bit changes per count</a:t>
            </a:r>
            <a:r>
              <a:rPr lang="en" sz="1152">
                <a:solidFill>
                  <a:schemeClr val="dk1"/>
                </a:solidFill>
                <a:latin typeface="Times New Roman"/>
                <a:ea typeface="Times New Roman"/>
                <a:cs typeface="Times New Roman"/>
                <a:sym typeface="Times New Roman"/>
              </a:rPr>
              <a:t>. This is vital for preventing the sampled pointer from appearing metastable or corrupted when crossing the asynchronous clock boundary.</a:t>
            </a:r>
            <a:endParaRPr sz="1152">
              <a:solidFill>
                <a:schemeClr val="dk1"/>
              </a:solidFill>
              <a:latin typeface="Times New Roman"/>
              <a:ea typeface="Times New Roman"/>
              <a:cs typeface="Times New Roman"/>
              <a:sym typeface="Times New Roman"/>
            </a:endParaRPr>
          </a:p>
          <a:p>
            <a:pPr indent="-301783" lvl="0" marL="457200" rtl="0" algn="l">
              <a:lnSpc>
                <a:spcPct val="95000"/>
              </a:lnSpc>
              <a:spcBef>
                <a:spcPts val="0"/>
              </a:spcBef>
              <a:spcAft>
                <a:spcPts val="0"/>
              </a:spcAft>
              <a:buClr>
                <a:schemeClr val="dk1"/>
              </a:buClr>
              <a:buSzPts val="1153"/>
              <a:buChar char="●"/>
            </a:pPr>
            <a:r>
              <a:rPr b="1" lang="en" sz="1152">
                <a:solidFill>
                  <a:schemeClr val="dk1"/>
                </a:solidFill>
                <a:latin typeface="Times New Roman"/>
                <a:ea typeface="Times New Roman"/>
                <a:cs typeface="Times New Roman"/>
                <a:sym typeface="Times New Roman"/>
              </a:rPr>
              <a:t>Synchronization:</a:t>
            </a:r>
            <a:r>
              <a:rPr lang="en" sz="1152">
                <a:solidFill>
                  <a:schemeClr val="dk1"/>
                </a:solidFill>
                <a:latin typeface="Times New Roman"/>
                <a:ea typeface="Times New Roman"/>
                <a:cs typeface="Times New Roman"/>
                <a:sym typeface="Times New Roman"/>
              </a:rPr>
              <a:t> The pointers are passed through dedicated </a:t>
            </a:r>
            <a:r>
              <a:rPr b="1" lang="en" sz="1152">
                <a:solidFill>
                  <a:schemeClr val="dk1"/>
                </a:solidFill>
                <a:latin typeface="Times New Roman"/>
                <a:ea typeface="Times New Roman"/>
                <a:cs typeface="Times New Roman"/>
                <a:sym typeface="Times New Roman"/>
              </a:rPr>
              <a:t>two-flip-flop synchronizer circuits</a:t>
            </a:r>
            <a:r>
              <a:rPr lang="en" sz="1152">
                <a:solidFill>
                  <a:schemeClr val="dk1"/>
                </a:solidFill>
                <a:latin typeface="Times New Roman"/>
                <a:ea typeface="Times New Roman"/>
                <a:cs typeface="Times New Roman"/>
                <a:sym typeface="Times New Roman"/>
              </a:rPr>
              <a:t> (</a:t>
            </a:r>
            <a:r>
              <a:rPr lang="en" sz="1152">
                <a:solidFill>
                  <a:srgbClr val="188038"/>
                </a:solidFill>
                <a:latin typeface="Times New Roman"/>
                <a:ea typeface="Times New Roman"/>
                <a:cs typeface="Times New Roman"/>
                <a:sym typeface="Times New Roman"/>
              </a:rPr>
              <a:t>sync_w2r</a:t>
            </a:r>
            <a:r>
              <a:rPr lang="en" sz="1152">
                <a:solidFill>
                  <a:schemeClr val="dk1"/>
                </a:solidFill>
                <a:latin typeface="Times New Roman"/>
                <a:ea typeface="Times New Roman"/>
                <a:cs typeface="Times New Roman"/>
                <a:sym typeface="Times New Roman"/>
              </a:rPr>
              <a:t>, </a:t>
            </a:r>
            <a:r>
              <a:rPr lang="en" sz="1152">
                <a:solidFill>
                  <a:srgbClr val="188038"/>
                </a:solidFill>
                <a:latin typeface="Times New Roman"/>
                <a:ea typeface="Times New Roman"/>
                <a:cs typeface="Times New Roman"/>
                <a:sym typeface="Times New Roman"/>
              </a:rPr>
              <a:t>sync_r2w</a:t>
            </a:r>
            <a:r>
              <a:rPr lang="en" sz="1152">
                <a:solidFill>
                  <a:schemeClr val="dk1"/>
                </a:solidFill>
                <a:latin typeface="Times New Roman"/>
                <a:ea typeface="Times New Roman"/>
                <a:cs typeface="Times New Roman"/>
                <a:sym typeface="Times New Roman"/>
              </a:rPr>
              <a:t>). These circuits are the industry standard way to stabilize signals that cross clock boundaries, dramatically reducing the risk of a fatal timing error.</a:t>
            </a:r>
            <a:endParaRPr sz="1152">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852"/>
              <a:buNone/>
            </a:pPr>
            <a:r>
              <a:t/>
            </a:r>
            <a:endParaRPr sz="1695">
              <a:latin typeface="Times New Roman"/>
              <a:ea typeface="Times New Roman"/>
              <a:cs typeface="Times New Roman"/>
              <a:sym typeface="Times New Roman"/>
            </a:endParaRPr>
          </a:p>
        </p:txBody>
      </p:sp>
      <p:sp>
        <p:nvSpPr>
          <p:cNvPr id="78" name="Google Shape;78;p16"/>
          <p:cNvSpPr txBox="1"/>
          <p:nvPr/>
        </p:nvSpPr>
        <p:spPr>
          <a:xfrm>
            <a:off x="136075" y="445625"/>
            <a:ext cx="5154600" cy="3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Georgia"/>
                <a:ea typeface="Georgia"/>
                <a:cs typeface="Georgia"/>
                <a:sym typeface="Georgia"/>
              </a:rPr>
              <a:t>Read Domain (RCLK) and Empty Logic</a:t>
            </a:r>
            <a:endParaRPr sz="1800">
              <a:solidFill>
                <a:schemeClr val="dk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19655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latin typeface="Georgia"/>
                <a:ea typeface="Georgia"/>
                <a:cs typeface="Georgia"/>
                <a:sym typeface="Georgia"/>
              </a:rPr>
              <a:t>Layered Testbench.</a:t>
            </a:r>
            <a:endParaRPr sz="2220">
              <a:latin typeface="Georgia"/>
              <a:ea typeface="Georgia"/>
              <a:cs typeface="Georgia"/>
              <a:sym typeface="Georgia"/>
            </a:endParaRPr>
          </a:p>
          <a:p>
            <a:pPr indent="0" lvl="0" marL="0" rtl="0" algn="l">
              <a:spcBef>
                <a:spcPts val="0"/>
              </a:spcBef>
              <a:spcAft>
                <a:spcPts val="0"/>
              </a:spcAft>
              <a:buSzPts val="990"/>
              <a:buNone/>
            </a:pPr>
            <a:r>
              <a:t/>
            </a:r>
            <a:endParaRPr sz="2020">
              <a:latin typeface="Georgia"/>
              <a:ea typeface="Georgia"/>
              <a:cs typeface="Georgia"/>
              <a:sym typeface="Georgia"/>
            </a:endParaRPr>
          </a:p>
          <a:p>
            <a:pPr indent="0" lvl="0" marL="0" rtl="0" algn="l">
              <a:spcBef>
                <a:spcPts val="0"/>
              </a:spcBef>
              <a:spcAft>
                <a:spcPts val="0"/>
              </a:spcAft>
              <a:buSzPts val="990"/>
              <a:buNone/>
            </a:pPr>
            <a:r>
              <a:t/>
            </a:r>
            <a:endParaRPr sz="2220">
              <a:latin typeface="Georgia"/>
              <a:ea typeface="Georgia"/>
              <a:cs typeface="Georgia"/>
              <a:sym typeface="Georgia"/>
            </a:endParaRPr>
          </a:p>
          <a:p>
            <a:pPr indent="0" lvl="0" marL="0" rtl="0" algn="l">
              <a:spcBef>
                <a:spcPts val="0"/>
              </a:spcBef>
              <a:spcAft>
                <a:spcPts val="0"/>
              </a:spcAft>
              <a:buSzPts val="990"/>
              <a:buNone/>
            </a:pPr>
            <a:r>
              <a:t/>
            </a:r>
            <a:endParaRPr sz="2220">
              <a:latin typeface="Georgia"/>
              <a:ea typeface="Georgia"/>
              <a:cs typeface="Georgia"/>
              <a:sym typeface="Georgia"/>
            </a:endParaRPr>
          </a:p>
        </p:txBody>
      </p:sp>
      <p:pic>
        <p:nvPicPr>
          <p:cNvPr id="84" name="Google Shape;84;p17"/>
          <p:cNvPicPr preferRelativeResize="0"/>
          <p:nvPr/>
        </p:nvPicPr>
        <p:blipFill>
          <a:blip r:embed="rId3">
            <a:alphaModFix/>
          </a:blip>
          <a:stretch>
            <a:fillRect/>
          </a:stretch>
        </p:blipFill>
        <p:spPr>
          <a:xfrm>
            <a:off x="7501306" y="-1"/>
            <a:ext cx="1642694" cy="792600"/>
          </a:xfrm>
          <a:prstGeom prst="rect">
            <a:avLst/>
          </a:prstGeom>
          <a:noFill/>
          <a:ln>
            <a:noFill/>
          </a:ln>
        </p:spPr>
      </p:pic>
      <p:sp>
        <p:nvSpPr>
          <p:cNvPr id="85" name="Google Shape;85;p17"/>
          <p:cNvSpPr txBox="1"/>
          <p:nvPr>
            <p:ph type="title"/>
          </p:nvPr>
        </p:nvSpPr>
        <p:spPr>
          <a:xfrm>
            <a:off x="3348400" y="45940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720">
                <a:latin typeface="Georgia"/>
                <a:ea typeface="Georgia"/>
                <a:cs typeface="Georgia"/>
                <a:sym typeface="Georgia"/>
              </a:rPr>
              <a:t>Block Diagram</a:t>
            </a:r>
            <a:endParaRPr sz="1320">
              <a:latin typeface="Georgia"/>
              <a:ea typeface="Georgia"/>
              <a:cs typeface="Georgia"/>
              <a:sym typeface="Georgia"/>
            </a:endParaRPr>
          </a:p>
        </p:txBody>
      </p:sp>
      <p:pic>
        <p:nvPicPr>
          <p:cNvPr id="86" name="Google Shape;86;p17" title="Untitled diagram-2025-11-13-232942.png"/>
          <p:cNvPicPr preferRelativeResize="0"/>
          <p:nvPr/>
        </p:nvPicPr>
        <p:blipFill>
          <a:blip r:embed="rId4">
            <a:alphaModFix/>
          </a:blip>
          <a:stretch>
            <a:fillRect/>
          </a:stretch>
        </p:blipFill>
        <p:spPr>
          <a:xfrm>
            <a:off x="1079250" y="416400"/>
            <a:ext cx="6092124" cy="41776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180100" y="77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latin typeface="Georgia"/>
                <a:ea typeface="Georgia"/>
                <a:cs typeface="Georgia"/>
                <a:sym typeface="Georgia"/>
              </a:rPr>
              <a:t>UVM Testbench Architecture: Verifying the Asynchronous FIFO</a:t>
            </a:r>
            <a:endParaRPr sz="1220">
              <a:latin typeface="Georgia"/>
              <a:ea typeface="Georgia"/>
              <a:cs typeface="Georgia"/>
              <a:sym typeface="Georgia"/>
            </a:endParaRPr>
          </a:p>
        </p:txBody>
      </p:sp>
      <p:sp>
        <p:nvSpPr>
          <p:cNvPr id="92" name="Google Shape;92;p18"/>
          <p:cNvSpPr txBox="1"/>
          <p:nvPr>
            <p:ph idx="1" type="body"/>
          </p:nvPr>
        </p:nvSpPr>
        <p:spPr>
          <a:xfrm>
            <a:off x="256875" y="668700"/>
            <a:ext cx="8520600" cy="3806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018"/>
              <a:buFont typeface="Arial"/>
              <a:buNone/>
            </a:pPr>
            <a:r>
              <a:rPr b="1" lang="en" sz="1417">
                <a:solidFill>
                  <a:schemeClr val="dk1"/>
                </a:solidFill>
                <a:latin typeface="Times New Roman"/>
                <a:ea typeface="Times New Roman"/>
                <a:cs typeface="Times New Roman"/>
                <a:sym typeface="Times New Roman"/>
              </a:rPr>
              <a:t>Core Challenge:</a:t>
            </a:r>
            <a:r>
              <a:rPr lang="en" sz="1417">
                <a:solidFill>
                  <a:schemeClr val="dk1"/>
                </a:solidFill>
                <a:latin typeface="Times New Roman"/>
                <a:ea typeface="Times New Roman"/>
                <a:cs typeface="Times New Roman"/>
                <a:sym typeface="Times New Roman"/>
              </a:rPr>
              <a:t> The goal is to verify a </a:t>
            </a:r>
            <a:r>
              <a:rPr b="1" lang="en" sz="1417">
                <a:solidFill>
                  <a:schemeClr val="dk1"/>
                </a:solidFill>
                <a:latin typeface="Times New Roman"/>
                <a:ea typeface="Times New Roman"/>
                <a:cs typeface="Times New Roman"/>
                <a:sym typeface="Times New Roman"/>
              </a:rPr>
              <a:t>dual-clock FIFO</a:t>
            </a:r>
            <a:r>
              <a:rPr lang="en" sz="1417">
                <a:solidFill>
                  <a:schemeClr val="dk1"/>
                </a:solidFill>
                <a:latin typeface="Times New Roman"/>
                <a:ea typeface="Times New Roman"/>
                <a:cs typeface="Times New Roman"/>
                <a:sym typeface="Times New Roman"/>
              </a:rPr>
              <a:t>, which safely passes data between two independent and unrelated clock domains.</a:t>
            </a:r>
            <a:endParaRPr sz="14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018"/>
              <a:buFont typeface="Arial"/>
              <a:buNone/>
            </a:pPr>
            <a:r>
              <a:rPr b="1" lang="en" sz="1417">
                <a:solidFill>
                  <a:schemeClr val="dk1"/>
                </a:solidFill>
                <a:latin typeface="Times New Roman"/>
                <a:ea typeface="Times New Roman"/>
                <a:cs typeface="Times New Roman"/>
                <a:sym typeface="Times New Roman"/>
              </a:rPr>
              <a:t>Asynchronous Clock Generation:</a:t>
            </a:r>
            <a:endParaRPr b="1" sz="1417">
              <a:solidFill>
                <a:schemeClr val="dk1"/>
              </a:solidFill>
              <a:latin typeface="Times New Roman"/>
              <a:ea typeface="Times New Roman"/>
              <a:cs typeface="Times New Roman"/>
              <a:sym typeface="Times New Roman"/>
            </a:endParaRPr>
          </a:p>
          <a:p>
            <a:pPr indent="-318611" lvl="0" marL="457200" rtl="0" algn="l">
              <a:lnSpc>
                <a:spcPct val="95000"/>
              </a:lnSpc>
              <a:spcBef>
                <a:spcPts val="1200"/>
              </a:spcBef>
              <a:spcAft>
                <a:spcPts val="0"/>
              </a:spcAft>
              <a:buClr>
                <a:schemeClr val="dk1"/>
              </a:buClr>
              <a:buSzPts val="1418"/>
              <a:buChar char="●"/>
            </a:pPr>
            <a:r>
              <a:rPr lang="en" sz="1417">
                <a:solidFill>
                  <a:schemeClr val="dk1"/>
                </a:solidFill>
                <a:latin typeface="Times New Roman"/>
                <a:ea typeface="Times New Roman"/>
                <a:cs typeface="Times New Roman"/>
                <a:sym typeface="Times New Roman"/>
              </a:rPr>
              <a:t>The testbench top (</a:t>
            </a:r>
            <a:r>
              <a:rPr lang="en" sz="1417">
                <a:solidFill>
                  <a:srgbClr val="188038"/>
                </a:solidFill>
                <a:latin typeface="Times New Roman"/>
                <a:ea typeface="Times New Roman"/>
                <a:cs typeface="Times New Roman"/>
                <a:sym typeface="Times New Roman"/>
              </a:rPr>
              <a:t>Fifo_uvm_tb_top</a:t>
            </a:r>
            <a:r>
              <a:rPr lang="en" sz="1417">
                <a:solidFill>
                  <a:schemeClr val="dk1"/>
                </a:solidFill>
                <a:latin typeface="Times New Roman"/>
                <a:ea typeface="Times New Roman"/>
                <a:cs typeface="Times New Roman"/>
                <a:sym typeface="Times New Roman"/>
              </a:rPr>
              <a:t>) generates two separate clocks:</a:t>
            </a:r>
            <a:endParaRPr sz="1417">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Char char="○"/>
            </a:pPr>
            <a:r>
              <a:rPr lang="en" sz="1417">
                <a:solidFill>
                  <a:srgbClr val="188038"/>
                </a:solidFill>
                <a:latin typeface="Times New Roman"/>
                <a:ea typeface="Times New Roman"/>
                <a:cs typeface="Times New Roman"/>
                <a:sym typeface="Times New Roman"/>
              </a:rPr>
              <a:t>WCLK</a:t>
            </a:r>
            <a:r>
              <a:rPr lang="en" sz="1417">
                <a:solidFill>
                  <a:schemeClr val="dk1"/>
                </a:solidFill>
                <a:latin typeface="Times New Roman"/>
                <a:ea typeface="Times New Roman"/>
                <a:cs typeface="Times New Roman"/>
                <a:sym typeface="Times New Roman"/>
              </a:rPr>
              <a:t> (Write Clock) at 100MHz</a:t>
            </a:r>
            <a:endParaRPr sz="1417">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Char char="○"/>
            </a:pPr>
            <a:r>
              <a:rPr lang="en" sz="1417">
                <a:solidFill>
                  <a:srgbClr val="188038"/>
                </a:solidFill>
                <a:latin typeface="Times New Roman"/>
                <a:ea typeface="Times New Roman"/>
                <a:cs typeface="Times New Roman"/>
                <a:sym typeface="Times New Roman"/>
              </a:rPr>
              <a:t>RCLK</a:t>
            </a:r>
            <a:r>
              <a:rPr lang="en" sz="1417">
                <a:solidFill>
                  <a:schemeClr val="dk1"/>
                </a:solidFill>
                <a:latin typeface="Times New Roman"/>
                <a:ea typeface="Times New Roman"/>
                <a:cs typeface="Times New Roman"/>
                <a:sym typeface="Times New Roman"/>
              </a:rPr>
              <a:t> (Read Clock) at 75MHz</a:t>
            </a:r>
            <a:endParaRPr sz="1517">
              <a:solidFill>
                <a:schemeClr val="dk1"/>
              </a:solidFill>
              <a:latin typeface="Times New Roman"/>
              <a:ea typeface="Times New Roman"/>
              <a:cs typeface="Times New Roman"/>
              <a:sym typeface="Times New Roman"/>
            </a:endParaRPr>
          </a:p>
          <a:p>
            <a:pPr indent="-318611" lvl="0" marL="457200" rtl="0" algn="l">
              <a:lnSpc>
                <a:spcPct val="95000"/>
              </a:lnSpc>
              <a:spcBef>
                <a:spcPts val="0"/>
              </a:spcBef>
              <a:spcAft>
                <a:spcPts val="0"/>
              </a:spcAft>
              <a:buClr>
                <a:schemeClr val="dk1"/>
              </a:buClr>
              <a:buSzPts val="1418"/>
              <a:buChar char="●"/>
            </a:pPr>
            <a:r>
              <a:rPr lang="en" sz="1417">
                <a:solidFill>
                  <a:schemeClr val="dk1"/>
                </a:solidFill>
                <a:latin typeface="Times New Roman"/>
                <a:ea typeface="Times New Roman"/>
                <a:cs typeface="Times New Roman"/>
                <a:sym typeface="Times New Roman"/>
              </a:rPr>
              <a:t>These two clocks are connected to the </a:t>
            </a:r>
            <a:r>
              <a:rPr b="1" lang="en" sz="1417">
                <a:solidFill>
                  <a:schemeClr val="dk1"/>
                </a:solidFill>
                <a:latin typeface="Times New Roman"/>
                <a:ea typeface="Times New Roman"/>
                <a:cs typeface="Times New Roman"/>
                <a:sym typeface="Times New Roman"/>
              </a:rPr>
              <a:t>Design Under Test (DUT)</a:t>
            </a:r>
            <a:r>
              <a:rPr lang="en" sz="1417">
                <a:solidFill>
                  <a:schemeClr val="dk1"/>
                </a:solidFill>
                <a:latin typeface="Times New Roman"/>
                <a:ea typeface="Times New Roman"/>
                <a:cs typeface="Times New Roman"/>
                <a:sym typeface="Times New Roman"/>
              </a:rPr>
              <a:t>, creating the asynchronous boundary.</a:t>
            </a:r>
            <a:endParaRPr sz="14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018"/>
              <a:buFont typeface="Arial"/>
              <a:buNone/>
            </a:pPr>
            <a:r>
              <a:rPr b="1" lang="en" sz="1417">
                <a:solidFill>
                  <a:schemeClr val="dk1"/>
                </a:solidFill>
                <a:latin typeface="Times New Roman"/>
                <a:ea typeface="Times New Roman"/>
                <a:cs typeface="Times New Roman"/>
                <a:sym typeface="Times New Roman"/>
              </a:rPr>
              <a:t>The UVM Environment (</a:t>
            </a:r>
            <a:r>
              <a:rPr b="1" lang="en" sz="1417">
                <a:solidFill>
                  <a:srgbClr val="188038"/>
                </a:solidFill>
                <a:latin typeface="Times New Roman"/>
                <a:ea typeface="Times New Roman"/>
                <a:cs typeface="Times New Roman"/>
                <a:sym typeface="Times New Roman"/>
              </a:rPr>
              <a:t>Fifo_uvm_env</a:t>
            </a:r>
            <a:r>
              <a:rPr b="1" lang="en" sz="1417">
                <a:solidFill>
                  <a:schemeClr val="dk1"/>
                </a:solidFill>
                <a:latin typeface="Times New Roman"/>
                <a:ea typeface="Times New Roman"/>
                <a:cs typeface="Times New Roman"/>
                <a:sym typeface="Times New Roman"/>
              </a:rPr>
              <a:t>):</a:t>
            </a:r>
            <a:endParaRPr b="1" sz="1417">
              <a:solidFill>
                <a:schemeClr val="dk1"/>
              </a:solidFill>
              <a:latin typeface="Times New Roman"/>
              <a:ea typeface="Times New Roman"/>
              <a:cs typeface="Times New Roman"/>
              <a:sym typeface="Times New Roman"/>
            </a:endParaRPr>
          </a:p>
          <a:p>
            <a:pPr indent="-318611" lvl="0" marL="457200" rtl="0" algn="l">
              <a:lnSpc>
                <a:spcPct val="95000"/>
              </a:lnSpc>
              <a:spcBef>
                <a:spcPts val="1200"/>
              </a:spcBef>
              <a:spcAft>
                <a:spcPts val="0"/>
              </a:spcAft>
              <a:buClr>
                <a:schemeClr val="dk1"/>
              </a:buClr>
              <a:buSzPts val="1418"/>
              <a:buFont typeface="Times New Roman"/>
              <a:buChar char="●"/>
            </a:pPr>
            <a:r>
              <a:rPr lang="en" sz="1417">
                <a:solidFill>
                  <a:schemeClr val="dk1"/>
                </a:solidFill>
                <a:latin typeface="Times New Roman"/>
                <a:ea typeface="Times New Roman"/>
                <a:cs typeface="Times New Roman"/>
                <a:sym typeface="Times New Roman"/>
              </a:rPr>
              <a:t>This is the main container for all verification components.</a:t>
            </a:r>
            <a:endParaRPr sz="1417">
              <a:solidFill>
                <a:schemeClr val="dk1"/>
              </a:solidFill>
              <a:latin typeface="Times New Roman"/>
              <a:ea typeface="Times New Roman"/>
              <a:cs typeface="Times New Roman"/>
              <a:sym typeface="Times New Roman"/>
            </a:endParaRPr>
          </a:p>
          <a:p>
            <a:pPr indent="-318611" lvl="0" marL="457200" rtl="0" algn="l">
              <a:lnSpc>
                <a:spcPct val="95000"/>
              </a:lnSpc>
              <a:spcBef>
                <a:spcPts val="0"/>
              </a:spcBef>
              <a:spcAft>
                <a:spcPts val="0"/>
              </a:spcAft>
              <a:buClr>
                <a:schemeClr val="dk1"/>
              </a:buClr>
              <a:buSzPts val="1418"/>
              <a:buFont typeface="Times New Roman"/>
              <a:buChar char="●"/>
            </a:pPr>
            <a:r>
              <a:rPr lang="en" sz="1417">
                <a:solidFill>
                  <a:schemeClr val="dk1"/>
                </a:solidFill>
                <a:latin typeface="Times New Roman"/>
                <a:ea typeface="Times New Roman"/>
                <a:cs typeface="Times New Roman"/>
                <a:sym typeface="Times New Roman"/>
              </a:rPr>
              <a:t>It is structured to mirror the DUT's clock domains.</a:t>
            </a:r>
            <a:endParaRPr sz="14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018"/>
              <a:buFont typeface="Arial"/>
              <a:buNone/>
            </a:pPr>
            <a:r>
              <a:rPr b="1" lang="en" sz="1417">
                <a:solidFill>
                  <a:schemeClr val="dk1"/>
                </a:solidFill>
                <a:latin typeface="Times New Roman"/>
                <a:ea typeface="Times New Roman"/>
                <a:cs typeface="Times New Roman"/>
                <a:sym typeface="Times New Roman"/>
              </a:rPr>
              <a:t>Domain-Specific Agents:</a:t>
            </a:r>
            <a:endParaRPr b="1" sz="1417">
              <a:solidFill>
                <a:schemeClr val="dk1"/>
              </a:solidFill>
              <a:latin typeface="Times New Roman"/>
              <a:ea typeface="Times New Roman"/>
              <a:cs typeface="Times New Roman"/>
              <a:sym typeface="Times New Roman"/>
            </a:endParaRPr>
          </a:p>
          <a:p>
            <a:pPr indent="-318611" lvl="0" marL="457200" rtl="0" algn="l">
              <a:lnSpc>
                <a:spcPct val="95000"/>
              </a:lnSpc>
              <a:spcBef>
                <a:spcPts val="1200"/>
              </a:spcBef>
              <a:spcAft>
                <a:spcPts val="0"/>
              </a:spcAft>
              <a:buClr>
                <a:schemeClr val="dk1"/>
              </a:buClr>
              <a:buSzPts val="1418"/>
              <a:buChar char="●"/>
            </a:pPr>
            <a:r>
              <a:rPr b="1" lang="en" sz="1417">
                <a:solidFill>
                  <a:srgbClr val="188038"/>
                </a:solidFill>
                <a:latin typeface="Times New Roman"/>
                <a:ea typeface="Times New Roman"/>
                <a:cs typeface="Times New Roman"/>
                <a:sym typeface="Times New Roman"/>
              </a:rPr>
              <a:t>write_agent</a:t>
            </a:r>
            <a:r>
              <a:rPr b="1" lang="en" sz="1417">
                <a:solidFill>
                  <a:schemeClr val="dk1"/>
                </a:solidFill>
                <a:latin typeface="Times New Roman"/>
                <a:ea typeface="Times New Roman"/>
                <a:cs typeface="Times New Roman"/>
                <a:sym typeface="Times New Roman"/>
              </a:rPr>
              <a:t>:</a:t>
            </a:r>
            <a:r>
              <a:rPr lang="en" sz="1417">
                <a:solidFill>
                  <a:schemeClr val="dk1"/>
                </a:solidFill>
                <a:latin typeface="Times New Roman"/>
                <a:ea typeface="Times New Roman"/>
                <a:cs typeface="Times New Roman"/>
                <a:sym typeface="Times New Roman"/>
              </a:rPr>
              <a:t> A complete UVM agent dedicated to the </a:t>
            </a:r>
            <a:r>
              <a:rPr i="1" lang="en" sz="1417">
                <a:solidFill>
                  <a:schemeClr val="dk1"/>
                </a:solidFill>
                <a:latin typeface="Times New Roman"/>
                <a:ea typeface="Times New Roman"/>
                <a:cs typeface="Times New Roman"/>
                <a:sym typeface="Times New Roman"/>
              </a:rPr>
              <a:t>write</a:t>
            </a:r>
            <a:r>
              <a:rPr lang="en" sz="1417">
                <a:solidFill>
                  <a:schemeClr val="dk1"/>
                </a:solidFill>
                <a:latin typeface="Times New Roman"/>
                <a:ea typeface="Times New Roman"/>
                <a:cs typeface="Times New Roman"/>
                <a:sym typeface="Times New Roman"/>
              </a:rPr>
              <a:t> side. It operates </a:t>
            </a:r>
            <a:r>
              <a:rPr b="1" lang="en" sz="1417">
                <a:solidFill>
                  <a:schemeClr val="dk1"/>
                </a:solidFill>
                <a:latin typeface="Times New Roman"/>
                <a:ea typeface="Times New Roman"/>
                <a:cs typeface="Times New Roman"/>
                <a:sym typeface="Times New Roman"/>
              </a:rPr>
              <a:t>only</a:t>
            </a:r>
            <a:r>
              <a:rPr lang="en" sz="1417">
                <a:solidFill>
                  <a:schemeClr val="dk1"/>
                </a:solidFill>
                <a:latin typeface="Times New Roman"/>
                <a:ea typeface="Times New Roman"/>
                <a:cs typeface="Times New Roman"/>
                <a:sym typeface="Times New Roman"/>
              </a:rPr>
              <a:t> on the </a:t>
            </a:r>
            <a:r>
              <a:rPr lang="en" sz="1417">
                <a:solidFill>
                  <a:srgbClr val="188038"/>
                </a:solidFill>
                <a:latin typeface="Times New Roman"/>
                <a:ea typeface="Times New Roman"/>
                <a:cs typeface="Times New Roman"/>
                <a:sym typeface="Times New Roman"/>
              </a:rPr>
              <a:t>WCLK</a:t>
            </a:r>
            <a:r>
              <a:rPr lang="en" sz="1417">
                <a:solidFill>
                  <a:schemeClr val="dk1"/>
                </a:solidFill>
                <a:latin typeface="Times New Roman"/>
                <a:ea typeface="Times New Roman"/>
                <a:cs typeface="Times New Roman"/>
                <a:sym typeface="Times New Roman"/>
              </a:rPr>
              <a:t> domain.</a:t>
            </a:r>
            <a:endParaRPr sz="1417">
              <a:solidFill>
                <a:schemeClr val="dk1"/>
              </a:solidFill>
              <a:latin typeface="Times New Roman"/>
              <a:ea typeface="Times New Roman"/>
              <a:cs typeface="Times New Roman"/>
              <a:sym typeface="Times New Roman"/>
            </a:endParaRPr>
          </a:p>
          <a:p>
            <a:pPr indent="-318611" lvl="0" marL="457200" rtl="0" algn="l">
              <a:lnSpc>
                <a:spcPct val="95000"/>
              </a:lnSpc>
              <a:spcBef>
                <a:spcPts val="0"/>
              </a:spcBef>
              <a:spcAft>
                <a:spcPts val="0"/>
              </a:spcAft>
              <a:buClr>
                <a:schemeClr val="dk1"/>
              </a:buClr>
              <a:buSzPts val="1418"/>
              <a:buChar char="●"/>
            </a:pPr>
            <a:r>
              <a:rPr b="1" lang="en" sz="1417">
                <a:solidFill>
                  <a:srgbClr val="188038"/>
                </a:solidFill>
                <a:latin typeface="Times New Roman"/>
                <a:ea typeface="Times New Roman"/>
                <a:cs typeface="Times New Roman"/>
                <a:sym typeface="Times New Roman"/>
              </a:rPr>
              <a:t>read_agent</a:t>
            </a:r>
            <a:r>
              <a:rPr b="1" lang="en" sz="1417">
                <a:solidFill>
                  <a:schemeClr val="dk1"/>
                </a:solidFill>
                <a:latin typeface="Times New Roman"/>
                <a:ea typeface="Times New Roman"/>
                <a:cs typeface="Times New Roman"/>
                <a:sym typeface="Times New Roman"/>
              </a:rPr>
              <a:t>:</a:t>
            </a:r>
            <a:r>
              <a:rPr lang="en" sz="1417">
                <a:solidFill>
                  <a:schemeClr val="dk1"/>
                </a:solidFill>
                <a:latin typeface="Times New Roman"/>
                <a:ea typeface="Times New Roman"/>
                <a:cs typeface="Times New Roman"/>
                <a:sym typeface="Times New Roman"/>
              </a:rPr>
              <a:t> A complete UVM agent dedicated to the </a:t>
            </a:r>
            <a:r>
              <a:rPr i="1" lang="en" sz="1417">
                <a:solidFill>
                  <a:schemeClr val="dk1"/>
                </a:solidFill>
                <a:latin typeface="Times New Roman"/>
                <a:ea typeface="Times New Roman"/>
                <a:cs typeface="Times New Roman"/>
                <a:sym typeface="Times New Roman"/>
              </a:rPr>
              <a:t>read</a:t>
            </a:r>
            <a:r>
              <a:rPr lang="en" sz="1417">
                <a:solidFill>
                  <a:schemeClr val="dk1"/>
                </a:solidFill>
                <a:latin typeface="Times New Roman"/>
                <a:ea typeface="Times New Roman"/>
                <a:cs typeface="Times New Roman"/>
                <a:sym typeface="Times New Roman"/>
              </a:rPr>
              <a:t> side. It operates </a:t>
            </a:r>
            <a:r>
              <a:rPr b="1" lang="en" sz="1417">
                <a:solidFill>
                  <a:schemeClr val="dk1"/>
                </a:solidFill>
                <a:latin typeface="Times New Roman"/>
                <a:ea typeface="Times New Roman"/>
                <a:cs typeface="Times New Roman"/>
                <a:sym typeface="Times New Roman"/>
              </a:rPr>
              <a:t>only</a:t>
            </a:r>
            <a:r>
              <a:rPr lang="en" sz="1417">
                <a:solidFill>
                  <a:schemeClr val="dk1"/>
                </a:solidFill>
                <a:latin typeface="Times New Roman"/>
                <a:ea typeface="Times New Roman"/>
                <a:cs typeface="Times New Roman"/>
                <a:sym typeface="Times New Roman"/>
              </a:rPr>
              <a:t> on the </a:t>
            </a:r>
            <a:r>
              <a:rPr lang="en" sz="1417">
                <a:solidFill>
                  <a:srgbClr val="188038"/>
                </a:solidFill>
                <a:latin typeface="Times New Roman"/>
                <a:ea typeface="Times New Roman"/>
                <a:cs typeface="Times New Roman"/>
                <a:sym typeface="Times New Roman"/>
              </a:rPr>
              <a:t>RCLK</a:t>
            </a:r>
            <a:r>
              <a:rPr lang="en" sz="1417">
                <a:solidFill>
                  <a:schemeClr val="dk1"/>
                </a:solidFill>
                <a:latin typeface="Times New Roman"/>
                <a:ea typeface="Times New Roman"/>
                <a:cs typeface="Times New Roman"/>
                <a:sym typeface="Times New Roman"/>
              </a:rPr>
              <a:t> domain.</a:t>
            </a:r>
            <a:endParaRPr sz="14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1018"/>
              <a:buNone/>
            </a:pPr>
            <a:r>
              <a:t/>
            </a:r>
            <a:endParaRPr sz="2065">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idx="1" type="body"/>
          </p:nvPr>
        </p:nvSpPr>
        <p:spPr>
          <a:xfrm>
            <a:off x="234925" y="620600"/>
            <a:ext cx="88665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688"/>
              <a:buFont typeface="Arial"/>
              <a:buNone/>
            </a:pPr>
            <a:r>
              <a:rPr b="1" lang="en" sz="1187">
                <a:solidFill>
                  <a:schemeClr val="dk1"/>
                </a:solidFill>
                <a:latin typeface="Times New Roman"/>
                <a:ea typeface="Times New Roman"/>
                <a:cs typeface="Times New Roman"/>
                <a:sym typeface="Times New Roman"/>
              </a:rPr>
              <a:t>Stimulus Generation (Sequencers):</a:t>
            </a:r>
            <a:endParaRPr b="1" sz="1187">
              <a:solidFill>
                <a:schemeClr val="dk1"/>
              </a:solidFill>
              <a:latin typeface="Times New Roman"/>
              <a:ea typeface="Times New Roman"/>
              <a:cs typeface="Times New Roman"/>
              <a:sym typeface="Times New Roman"/>
            </a:endParaRPr>
          </a:p>
          <a:p>
            <a:pPr indent="-304006" lvl="0" marL="457200" rtl="0" algn="l">
              <a:lnSpc>
                <a:spcPct val="95000"/>
              </a:lnSpc>
              <a:spcBef>
                <a:spcPts val="1200"/>
              </a:spcBef>
              <a:spcAft>
                <a:spcPts val="0"/>
              </a:spcAft>
              <a:buClr>
                <a:schemeClr val="dk1"/>
              </a:buClr>
              <a:buSzPts val="1188"/>
              <a:buChar char="●"/>
            </a:pPr>
            <a:r>
              <a:rPr lang="en" sz="1187">
                <a:solidFill>
                  <a:srgbClr val="188038"/>
                </a:solidFill>
                <a:latin typeface="Times New Roman"/>
                <a:ea typeface="Times New Roman"/>
                <a:cs typeface="Times New Roman"/>
                <a:sym typeface="Times New Roman"/>
              </a:rPr>
              <a:t>write_sequencer</a:t>
            </a:r>
            <a:r>
              <a:rPr lang="en" sz="1187">
                <a:solidFill>
                  <a:schemeClr val="dk1"/>
                </a:solidFill>
                <a:latin typeface="Times New Roman"/>
                <a:ea typeface="Times New Roman"/>
                <a:cs typeface="Times New Roman"/>
                <a:sym typeface="Times New Roman"/>
              </a:rPr>
              <a:t> creates random write transactions (data to be written, </a:t>
            </a:r>
            <a:r>
              <a:rPr lang="en" sz="1187">
                <a:solidFill>
                  <a:srgbClr val="188038"/>
                </a:solidFill>
                <a:latin typeface="Times New Roman"/>
                <a:ea typeface="Times New Roman"/>
                <a:cs typeface="Times New Roman"/>
                <a:sym typeface="Times New Roman"/>
              </a:rPr>
              <a:t>wdata</a:t>
            </a:r>
            <a:r>
              <a:rPr lang="en" sz="1187">
                <a:solidFill>
                  <a:schemeClr val="dk1"/>
                </a:solidFill>
                <a:latin typeface="Times New Roman"/>
                <a:ea typeface="Times New Roman"/>
                <a:cs typeface="Times New Roman"/>
                <a:sym typeface="Times New Roman"/>
              </a:rPr>
              <a:t>).</a:t>
            </a:r>
            <a:endParaRPr sz="1187">
              <a:solidFill>
                <a:schemeClr val="dk1"/>
              </a:solidFill>
              <a:latin typeface="Times New Roman"/>
              <a:ea typeface="Times New Roman"/>
              <a:cs typeface="Times New Roman"/>
              <a:sym typeface="Times New Roman"/>
            </a:endParaRPr>
          </a:p>
          <a:p>
            <a:pPr indent="-304006" lvl="0" marL="457200" rtl="0" algn="l">
              <a:lnSpc>
                <a:spcPct val="95000"/>
              </a:lnSpc>
              <a:spcBef>
                <a:spcPts val="0"/>
              </a:spcBef>
              <a:spcAft>
                <a:spcPts val="0"/>
              </a:spcAft>
              <a:buClr>
                <a:schemeClr val="dk1"/>
              </a:buClr>
              <a:buSzPts val="1188"/>
              <a:buChar char="●"/>
            </a:pPr>
            <a:r>
              <a:rPr lang="en" sz="1187">
                <a:solidFill>
                  <a:srgbClr val="188038"/>
                </a:solidFill>
                <a:latin typeface="Times New Roman"/>
                <a:ea typeface="Times New Roman"/>
                <a:cs typeface="Times New Roman"/>
                <a:sym typeface="Times New Roman"/>
              </a:rPr>
              <a:t>read_sequencer</a:t>
            </a:r>
            <a:r>
              <a:rPr lang="en" sz="1187">
                <a:solidFill>
                  <a:schemeClr val="dk1"/>
                </a:solidFill>
                <a:latin typeface="Times New Roman"/>
                <a:ea typeface="Times New Roman"/>
                <a:cs typeface="Times New Roman"/>
                <a:sym typeface="Times New Roman"/>
              </a:rPr>
              <a:t> creates random read "requests" (signaled by </a:t>
            </a:r>
            <a:r>
              <a:rPr lang="en" sz="1187">
                <a:solidFill>
                  <a:srgbClr val="188038"/>
                </a:solidFill>
                <a:latin typeface="Times New Roman"/>
                <a:ea typeface="Times New Roman"/>
                <a:cs typeface="Times New Roman"/>
                <a:sym typeface="Times New Roman"/>
              </a:rPr>
              <a:t>rinc</a:t>
            </a:r>
            <a:r>
              <a:rPr lang="en" sz="1187">
                <a:solidFill>
                  <a:schemeClr val="dk1"/>
                </a:solidFill>
                <a:latin typeface="Times New Roman"/>
                <a:ea typeface="Times New Roman"/>
                <a:cs typeface="Times New Roman"/>
                <a:sym typeface="Times New Roman"/>
              </a:rPr>
              <a:t>).</a:t>
            </a:r>
            <a:endParaRPr sz="118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688"/>
              <a:buFont typeface="Arial"/>
              <a:buNone/>
            </a:pPr>
            <a:r>
              <a:rPr b="1" lang="en" sz="1187">
                <a:solidFill>
                  <a:schemeClr val="dk1"/>
                </a:solidFill>
                <a:latin typeface="Times New Roman"/>
                <a:ea typeface="Times New Roman"/>
                <a:cs typeface="Times New Roman"/>
                <a:sym typeface="Times New Roman"/>
              </a:rPr>
              <a:t>Driving the DUT (Drivers):</a:t>
            </a:r>
            <a:endParaRPr b="1" sz="1187">
              <a:solidFill>
                <a:schemeClr val="dk1"/>
              </a:solidFill>
              <a:latin typeface="Times New Roman"/>
              <a:ea typeface="Times New Roman"/>
              <a:cs typeface="Times New Roman"/>
              <a:sym typeface="Times New Roman"/>
            </a:endParaRPr>
          </a:p>
          <a:p>
            <a:pPr indent="-304006" lvl="0" marL="457200" rtl="0" algn="l">
              <a:lnSpc>
                <a:spcPct val="95000"/>
              </a:lnSpc>
              <a:spcBef>
                <a:spcPts val="1200"/>
              </a:spcBef>
              <a:spcAft>
                <a:spcPts val="0"/>
              </a:spcAft>
              <a:buClr>
                <a:schemeClr val="dk1"/>
              </a:buClr>
              <a:buSzPts val="1188"/>
              <a:buChar char="●"/>
            </a:pPr>
            <a:r>
              <a:rPr lang="en" sz="1187">
                <a:solidFill>
                  <a:srgbClr val="188038"/>
                </a:solidFill>
                <a:latin typeface="Times New Roman"/>
                <a:ea typeface="Times New Roman"/>
                <a:cs typeface="Times New Roman"/>
                <a:sym typeface="Times New Roman"/>
              </a:rPr>
              <a:t>write_driver</a:t>
            </a:r>
            <a:r>
              <a:rPr lang="en" sz="1187">
                <a:solidFill>
                  <a:schemeClr val="dk1"/>
                </a:solidFill>
                <a:latin typeface="Times New Roman"/>
                <a:ea typeface="Times New Roman"/>
                <a:cs typeface="Times New Roman"/>
                <a:sym typeface="Times New Roman"/>
              </a:rPr>
              <a:t> takes transactions and drives the DUT's write pins (</a:t>
            </a:r>
            <a:r>
              <a:rPr lang="en" sz="1187">
                <a:solidFill>
                  <a:srgbClr val="188038"/>
                </a:solidFill>
                <a:latin typeface="Times New Roman"/>
                <a:ea typeface="Times New Roman"/>
                <a:cs typeface="Times New Roman"/>
                <a:sym typeface="Times New Roman"/>
              </a:rPr>
              <a:t>wdata</a:t>
            </a:r>
            <a:r>
              <a:rPr lang="en" sz="1187">
                <a:solidFill>
                  <a:schemeClr val="dk1"/>
                </a:solidFill>
                <a:latin typeface="Times New Roman"/>
                <a:ea typeface="Times New Roman"/>
                <a:cs typeface="Times New Roman"/>
                <a:sym typeface="Times New Roman"/>
              </a:rPr>
              <a:t>, </a:t>
            </a:r>
            <a:r>
              <a:rPr lang="en" sz="1187">
                <a:solidFill>
                  <a:srgbClr val="188038"/>
                </a:solidFill>
                <a:latin typeface="Times New Roman"/>
                <a:ea typeface="Times New Roman"/>
                <a:cs typeface="Times New Roman"/>
                <a:sym typeface="Times New Roman"/>
              </a:rPr>
              <a:t>winc</a:t>
            </a:r>
            <a:r>
              <a:rPr lang="en" sz="1187">
                <a:solidFill>
                  <a:schemeClr val="dk1"/>
                </a:solidFill>
                <a:latin typeface="Times New Roman"/>
                <a:ea typeface="Times New Roman"/>
                <a:cs typeface="Times New Roman"/>
                <a:sym typeface="Times New Roman"/>
              </a:rPr>
              <a:t>) in sync with </a:t>
            </a:r>
            <a:r>
              <a:rPr lang="en" sz="1187">
                <a:solidFill>
                  <a:srgbClr val="188038"/>
                </a:solidFill>
                <a:latin typeface="Times New Roman"/>
                <a:ea typeface="Times New Roman"/>
                <a:cs typeface="Times New Roman"/>
                <a:sym typeface="Times New Roman"/>
              </a:rPr>
              <a:t>WCLK</a:t>
            </a:r>
            <a:r>
              <a:rPr lang="en" sz="1187">
                <a:solidFill>
                  <a:schemeClr val="dk1"/>
                </a:solidFill>
                <a:latin typeface="Times New Roman"/>
                <a:ea typeface="Times New Roman"/>
                <a:cs typeface="Times New Roman"/>
                <a:sym typeface="Times New Roman"/>
              </a:rPr>
              <a:t>.</a:t>
            </a:r>
            <a:endParaRPr sz="1187">
              <a:solidFill>
                <a:schemeClr val="dk1"/>
              </a:solidFill>
              <a:latin typeface="Times New Roman"/>
              <a:ea typeface="Times New Roman"/>
              <a:cs typeface="Times New Roman"/>
              <a:sym typeface="Times New Roman"/>
            </a:endParaRPr>
          </a:p>
          <a:p>
            <a:pPr indent="-304006" lvl="0" marL="457200" rtl="0" algn="l">
              <a:lnSpc>
                <a:spcPct val="95000"/>
              </a:lnSpc>
              <a:spcBef>
                <a:spcPts val="0"/>
              </a:spcBef>
              <a:spcAft>
                <a:spcPts val="0"/>
              </a:spcAft>
              <a:buClr>
                <a:schemeClr val="dk1"/>
              </a:buClr>
              <a:buSzPts val="1188"/>
              <a:buChar char="●"/>
            </a:pPr>
            <a:r>
              <a:rPr lang="en" sz="1187">
                <a:solidFill>
                  <a:srgbClr val="188038"/>
                </a:solidFill>
                <a:latin typeface="Times New Roman"/>
                <a:ea typeface="Times New Roman"/>
                <a:cs typeface="Times New Roman"/>
                <a:sym typeface="Times New Roman"/>
              </a:rPr>
              <a:t>read_driver</a:t>
            </a:r>
            <a:r>
              <a:rPr lang="en" sz="1187">
                <a:solidFill>
                  <a:schemeClr val="dk1"/>
                </a:solidFill>
                <a:latin typeface="Times New Roman"/>
                <a:ea typeface="Times New Roman"/>
                <a:cs typeface="Times New Roman"/>
                <a:sym typeface="Times New Roman"/>
              </a:rPr>
              <a:t> drives the DUT's read control pins (</a:t>
            </a:r>
            <a:r>
              <a:rPr lang="en" sz="1187">
                <a:solidFill>
                  <a:srgbClr val="188038"/>
                </a:solidFill>
                <a:latin typeface="Times New Roman"/>
                <a:ea typeface="Times New Roman"/>
                <a:cs typeface="Times New Roman"/>
                <a:sym typeface="Times New Roman"/>
              </a:rPr>
              <a:t>rinc</a:t>
            </a:r>
            <a:r>
              <a:rPr lang="en" sz="1187">
                <a:solidFill>
                  <a:schemeClr val="dk1"/>
                </a:solidFill>
                <a:latin typeface="Times New Roman"/>
                <a:ea typeface="Times New Roman"/>
                <a:cs typeface="Times New Roman"/>
                <a:sym typeface="Times New Roman"/>
              </a:rPr>
              <a:t>) in sync with </a:t>
            </a:r>
            <a:r>
              <a:rPr lang="en" sz="1187">
                <a:solidFill>
                  <a:srgbClr val="188038"/>
                </a:solidFill>
                <a:latin typeface="Times New Roman"/>
                <a:ea typeface="Times New Roman"/>
                <a:cs typeface="Times New Roman"/>
                <a:sym typeface="Times New Roman"/>
              </a:rPr>
              <a:t>RCLK</a:t>
            </a:r>
            <a:r>
              <a:rPr lang="en" sz="1187">
                <a:solidFill>
                  <a:schemeClr val="dk1"/>
                </a:solidFill>
                <a:latin typeface="Times New Roman"/>
                <a:ea typeface="Times New Roman"/>
                <a:cs typeface="Times New Roman"/>
                <a:sym typeface="Times New Roman"/>
              </a:rPr>
              <a:t>.</a:t>
            </a:r>
            <a:endParaRPr sz="118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688"/>
              <a:buFont typeface="Arial"/>
              <a:buNone/>
            </a:pPr>
            <a:r>
              <a:rPr b="1" lang="en" sz="1187">
                <a:solidFill>
                  <a:schemeClr val="dk1"/>
                </a:solidFill>
                <a:latin typeface="Times New Roman"/>
                <a:ea typeface="Times New Roman"/>
                <a:cs typeface="Times New Roman"/>
                <a:sym typeface="Times New Roman"/>
              </a:rPr>
              <a:t>Monitoring Bus Activity (Monitors):</a:t>
            </a:r>
            <a:endParaRPr b="1" sz="1187">
              <a:solidFill>
                <a:schemeClr val="dk1"/>
              </a:solidFill>
              <a:latin typeface="Times New Roman"/>
              <a:ea typeface="Times New Roman"/>
              <a:cs typeface="Times New Roman"/>
              <a:sym typeface="Times New Roman"/>
            </a:endParaRPr>
          </a:p>
          <a:p>
            <a:pPr indent="-304006" lvl="0" marL="457200" rtl="0" algn="l">
              <a:lnSpc>
                <a:spcPct val="95000"/>
              </a:lnSpc>
              <a:spcBef>
                <a:spcPts val="1200"/>
              </a:spcBef>
              <a:spcAft>
                <a:spcPts val="0"/>
              </a:spcAft>
              <a:buClr>
                <a:schemeClr val="dk1"/>
              </a:buClr>
              <a:buSzPts val="1188"/>
              <a:buFont typeface="Times New Roman"/>
              <a:buChar char="●"/>
            </a:pPr>
            <a:r>
              <a:rPr lang="en" sz="1187">
                <a:solidFill>
                  <a:schemeClr val="dk1"/>
                </a:solidFill>
                <a:latin typeface="Times New Roman"/>
                <a:ea typeface="Times New Roman"/>
                <a:cs typeface="Times New Roman"/>
                <a:sym typeface="Times New Roman"/>
              </a:rPr>
              <a:t>Monitors passively watch all VIF signals and capture real-time activity.</a:t>
            </a:r>
            <a:endParaRPr sz="1187">
              <a:solidFill>
                <a:schemeClr val="dk1"/>
              </a:solidFill>
              <a:latin typeface="Times New Roman"/>
              <a:ea typeface="Times New Roman"/>
              <a:cs typeface="Times New Roman"/>
              <a:sym typeface="Times New Roman"/>
            </a:endParaRPr>
          </a:p>
          <a:p>
            <a:pPr indent="-304006" lvl="0" marL="457200" rtl="0" algn="l">
              <a:lnSpc>
                <a:spcPct val="95000"/>
              </a:lnSpc>
              <a:spcBef>
                <a:spcPts val="0"/>
              </a:spcBef>
              <a:spcAft>
                <a:spcPts val="0"/>
              </a:spcAft>
              <a:buClr>
                <a:schemeClr val="dk1"/>
              </a:buClr>
              <a:buSzPts val="1188"/>
              <a:buChar char="●"/>
            </a:pPr>
            <a:r>
              <a:rPr lang="en" sz="1187">
                <a:solidFill>
                  <a:srgbClr val="188038"/>
                </a:solidFill>
                <a:latin typeface="Times New Roman"/>
                <a:ea typeface="Times New Roman"/>
                <a:cs typeface="Times New Roman"/>
                <a:sym typeface="Times New Roman"/>
              </a:rPr>
              <a:t>write_monitor</a:t>
            </a:r>
            <a:r>
              <a:rPr lang="en" sz="1187">
                <a:solidFill>
                  <a:schemeClr val="dk1"/>
                </a:solidFill>
                <a:latin typeface="Times New Roman"/>
                <a:ea typeface="Times New Roman"/>
                <a:cs typeface="Times New Roman"/>
                <a:sym typeface="Times New Roman"/>
              </a:rPr>
              <a:t> samples the write bus and status (</a:t>
            </a:r>
            <a:r>
              <a:rPr lang="en" sz="1187">
                <a:solidFill>
                  <a:srgbClr val="188038"/>
                </a:solidFill>
                <a:latin typeface="Times New Roman"/>
                <a:ea typeface="Times New Roman"/>
                <a:cs typeface="Times New Roman"/>
                <a:sym typeface="Times New Roman"/>
              </a:rPr>
              <a:t>wfull</a:t>
            </a:r>
            <a:r>
              <a:rPr lang="en" sz="1187">
                <a:solidFill>
                  <a:schemeClr val="dk1"/>
                </a:solidFill>
                <a:latin typeface="Times New Roman"/>
                <a:ea typeface="Times New Roman"/>
                <a:cs typeface="Times New Roman"/>
                <a:sym typeface="Times New Roman"/>
              </a:rPr>
              <a:t>) and sends </a:t>
            </a:r>
            <a:r>
              <a:rPr lang="en" sz="1187">
                <a:solidFill>
                  <a:srgbClr val="188038"/>
                </a:solidFill>
                <a:latin typeface="Times New Roman"/>
                <a:ea typeface="Times New Roman"/>
                <a:cs typeface="Times New Roman"/>
                <a:sym typeface="Times New Roman"/>
              </a:rPr>
              <a:t>Transaction (W_TX)</a:t>
            </a:r>
            <a:r>
              <a:rPr lang="en" sz="1187">
                <a:solidFill>
                  <a:schemeClr val="dk1"/>
                </a:solidFill>
                <a:latin typeface="Times New Roman"/>
                <a:ea typeface="Times New Roman"/>
                <a:cs typeface="Times New Roman"/>
                <a:sym typeface="Times New Roman"/>
              </a:rPr>
              <a:t> to the analyzer.</a:t>
            </a:r>
            <a:endParaRPr sz="1187">
              <a:solidFill>
                <a:schemeClr val="dk1"/>
              </a:solidFill>
              <a:latin typeface="Times New Roman"/>
              <a:ea typeface="Times New Roman"/>
              <a:cs typeface="Times New Roman"/>
              <a:sym typeface="Times New Roman"/>
            </a:endParaRPr>
          </a:p>
          <a:p>
            <a:pPr indent="-304006" lvl="0" marL="457200" rtl="0" algn="l">
              <a:lnSpc>
                <a:spcPct val="95000"/>
              </a:lnSpc>
              <a:spcBef>
                <a:spcPts val="0"/>
              </a:spcBef>
              <a:spcAft>
                <a:spcPts val="0"/>
              </a:spcAft>
              <a:buClr>
                <a:schemeClr val="dk1"/>
              </a:buClr>
              <a:buSzPts val="1188"/>
              <a:buChar char="●"/>
            </a:pPr>
            <a:r>
              <a:rPr lang="en" sz="1187">
                <a:solidFill>
                  <a:srgbClr val="188038"/>
                </a:solidFill>
                <a:latin typeface="Times New Roman"/>
                <a:ea typeface="Times New Roman"/>
                <a:cs typeface="Times New Roman"/>
                <a:sym typeface="Times New Roman"/>
              </a:rPr>
              <a:t>read_monitor</a:t>
            </a:r>
            <a:r>
              <a:rPr lang="en" sz="1187">
                <a:solidFill>
                  <a:schemeClr val="dk1"/>
                </a:solidFill>
                <a:latin typeface="Times New Roman"/>
                <a:ea typeface="Times New Roman"/>
                <a:cs typeface="Times New Roman"/>
                <a:sym typeface="Times New Roman"/>
              </a:rPr>
              <a:t> samples the read bus and status (</a:t>
            </a:r>
            <a:r>
              <a:rPr lang="en" sz="1187">
                <a:solidFill>
                  <a:srgbClr val="188038"/>
                </a:solidFill>
                <a:latin typeface="Times New Roman"/>
                <a:ea typeface="Times New Roman"/>
                <a:cs typeface="Times New Roman"/>
                <a:sym typeface="Times New Roman"/>
              </a:rPr>
              <a:t>rdata</a:t>
            </a:r>
            <a:r>
              <a:rPr lang="en" sz="1187">
                <a:solidFill>
                  <a:schemeClr val="dk1"/>
                </a:solidFill>
                <a:latin typeface="Times New Roman"/>
                <a:ea typeface="Times New Roman"/>
                <a:cs typeface="Times New Roman"/>
                <a:sym typeface="Times New Roman"/>
              </a:rPr>
              <a:t>, </a:t>
            </a:r>
            <a:r>
              <a:rPr lang="en" sz="1187">
                <a:solidFill>
                  <a:srgbClr val="188038"/>
                </a:solidFill>
                <a:latin typeface="Times New Roman"/>
                <a:ea typeface="Times New Roman"/>
                <a:cs typeface="Times New Roman"/>
                <a:sym typeface="Times New Roman"/>
              </a:rPr>
              <a:t>rempty</a:t>
            </a:r>
            <a:r>
              <a:rPr lang="en" sz="1187">
                <a:solidFill>
                  <a:schemeClr val="dk1"/>
                </a:solidFill>
                <a:latin typeface="Times New Roman"/>
                <a:ea typeface="Times New Roman"/>
                <a:cs typeface="Times New Roman"/>
                <a:sym typeface="Times New Roman"/>
              </a:rPr>
              <a:t>) and sends </a:t>
            </a:r>
            <a:r>
              <a:rPr lang="en" sz="1187">
                <a:solidFill>
                  <a:srgbClr val="188038"/>
                </a:solidFill>
                <a:latin typeface="Times New Roman"/>
                <a:ea typeface="Times New Roman"/>
                <a:cs typeface="Times New Roman"/>
                <a:sym typeface="Times New Roman"/>
              </a:rPr>
              <a:t>Transaction (R_TX)</a:t>
            </a:r>
            <a:r>
              <a:rPr lang="en" sz="1187">
                <a:solidFill>
                  <a:schemeClr val="dk1"/>
                </a:solidFill>
                <a:latin typeface="Times New Roman"/>
                <a:ea typeface="Times New Roman"/>
                <a:cs typeface="Times New Roman"/>
                <a:sym typeface="Times New Roman"/>
              </a:rPr>
              <a:t> to the analyzer.</a:t>
            </a:r>
            <a:endParaRPr sz="118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688"/>
              <a:buFont typeface="Arial"/>
              <a:buNone/>
            </a:pPr>
            <a:r>
              <a:rPr b="1" lang="en" sz="1187">
                <a:solidFill>
                  <a:schemeClr val="dk1"/>
                </a:solidFill>
                <a:latin typeface="Times New Roman"/>
                <a:ea typeface="Times New Roman"/>
                <a:cs typeface="Times New Roman"/>
                <a:sym typeface="Times New Roman"/>
              </a:rPr>
              <a:t>Analysis &amp; Checking (The "Brains"):</a:t>
            </a:r>
            <a:endParaRPr b="1" sz="1187">
              <a:solidFill>
                <a:schemeClr val="dk1"/>
              </a:solidFill>
              <a:latin typeface="Times New Roman"/>
              <a:ea typeface="Times New Roman"/>
              <a:cs typeface="Times New Roman"/>
              <a:sym typeface="Times New Roman"/>
            </a:endParaRPr>
          </a:p>
          <a:p>
            <a:pPr indent="-304006" lvl="0" marL="457200" rtl="0" algn="l">
              <a:lnSpc>
                <a:spcPct val="95000"/>
              </a:lnSpc>
              <a:spcBef>
                <a:spcPts val="1200"/>
              </a:spcBef>
              <a:spcAft>
                <a:spcPts val="0"/>
              </a:spcAft>
              <a:buClr>
                <a:schemeClr val="dk1"/>
              </a:buClr>
              <a:buSzPts val="1188"/>
              <a:buChar char="●"/>
            </a:pPr>
            <a:r>
              <a:rPr b="1" lang="en" sz="1187">
                <a:solidFill>
                  <a:srgbClr val="188038"/>
                </a:solidFill>
                <a:latin typeface="Times New Roman"/>
                <a:ea typeface="Times New Roman"/>
                <a:cs typeface="Times New Roman"/>
                <a:sym typeface="Times New Roman"/>
              </a:rPr>
              <a:t>cross_domain_analyzer</a:t>
            </a:r>
            <a:r>
              <a:rPr b="1" lang="en" sz="1187">
                <a:solidFill>
                  <a:schemeClr val="dk1"/>
                </a:solidFill>
                <a:latin typeface="Times New Roman"/>
                <a:ea typeface="Times New Roman"/>
                <a:cs typeface="Times New Roman"/>
                <a:sym typeface="Times New Roman"/>
              </a:rPr>
              <a:t>:</a:t>
            </a:r>
            <a:r>
              <a:rPr lang="en" sz="1187">
                <a:solidFill>
                  <a:schemeClr val="dk1"/>
                </a:solidFill>
                <a:latin typeface="Times New Roman"/>
                <a:ea typeface="Times New Roman"/>
                <a:cs typeface="Times New Roman"/>
                <a:sym typeface="Times New Roman"/>
              </a:rPr>
              <a:t> Collects transactions from </a:t>
            </a:r>
            <a:r>
              <a:rPr i="1" lang="en" sz="1187">
                <a:solidFill>
                  <a:schemeClr val="dk1"/>
                </a:solidFill>
                <a:latin typeface="Times New Roman"/>
                <a:ea typeface="Times New Roman"/>
                <a:cs typeface="Times New Roman"/>
                <a:sym typeface="Times New Roman"/>
              </a:rPr>
              <a:t>both</a:t>
            </a:r>
            <a:r>
              <a:rPr lang="en" sz="1187">
                <a:solidFill>
                  <a:schemeClr val="dk1"/>
                </a:solidFill>
                <a:latin typeface="Times New Roman"/>
                <a:ea typeface="Times New Roman"/>
                <a:cs typeface="Times New Roman"/>
                <a:sym typeface="Times New Roman"/>
              </a:rPr>
              <a:t> monitors to get a complete picture of all activity.</a:t>
            </a:r>
            <a:endParaRPr sz="1187">
              <a:solidFill>
                <a:schemeClr val="dk1"/>
              </a:solidFill>
              <a:latin typeface="Times New Roman"/>
              <a:ea typeface="Times New Roman"/>
              <a:cs typeface="Times New Roman"/>
              <a:sym typeface="Times New Roman"/>
            </a:endParaRPr>
          </a:p>
          <a:p>
            <a:pPr indent="-304006" lvl="0" marL="457200" rtl="0" algn="l">
              <a:lnSpc>
                <a:spcPct val="95000"/>
              </a:lnSpc>
              <a:spcBef>
                <a:spcPts val="0"/>
              </a:spcBef>
              <a:spcAft>
                <a:spcPts val="0"/>
              </a:spcAft>
              <a:buClr>
                <a:schemeClr val="dk1"/>
              </a:buClr>
              <a:buSzPts val="1188"/>
              <a:buChar char="●"/>
            </a:pPr>
            <a:r>
              <a:rPr b="1" lang="en" sz="1187">
                <a:solidFill>
                  <a:srgbClr val="188038"/>
                </a:solidFill>
                <a:latin typeface="Times New Roman"/>
                <a:ea typeface="Times New Roman"/>
                <a:cs typeface="Times New Roman"/>
                <a:sym typeface="Times New Roman"/>
              </a:rPr>
              <a:t>Scoreboard</a:t>
            </a:r>
            <a:r>
              <a:rPr b="1" lang="en" sz="1187">
                <a:solidFill>
                  <a:schemeClr val="dk1"/>
                </a:solidFill>
                <a:latin typeface="Times New Roman"/>
                <a:ea typeface="Times New Roman"/>
                <a:cs typeface="Times New Roman"/>
                <a:sym typeface="Times New Roman"/>
              </a:rPr>
              <a:t>:</a:t>
            </a:r>
            <a:r>
              <a:rPr lang="en" sz="1187">
                <a:solidFill>
                  <a:schemeClr val="dk1"/>
                </a:solidFill>
                <a:latin typeface="Times New Roman"/>
                <a:ea typeface="Times New Roman"/>
                <a:cs typeface="Times New Roman"/>
                <a:sym typeface="Times New Roman"/>
              </a:rPr>
              <a:t> Receives combined transactions. Its job is to:</a:t>
            </a:r>
            <a:endParaRPr sz="1187">
              <a:solidFill>
                <a:schemeClr val="dk1"/>
              </a:solidFill>
              <a:latin typeface="Times New Roman"/>
              <a:ea typeface="Times New Roman"/>
              <a:cs typeface="Times New Roman"/>
              <a:sym typeface="Times New Roman"/>
            </a:endParaRPr>
          </a:p>
          <a:p>
            <a:pPr indent="-304006" lvl="1" marL="914400" rtl="0" algn="l">
              <a:lnSpc>
                <a:spcPct val="95000"/>
              </a:lnSpc>
              <a:spcBef>
                <a:spcPts val="0"/>
              </a:spcBef>
              <a:spcAft>
                <a:spcPts val="0"/>
              </a:spcAft>
              <a:buClr>
                <a:schemeClr val="dk1"/>
              </a:buClr>
              <a:buSzPts val="1188"/>
              <a:buFont typeface="Times New Roman"/>
              <a:buAutoNum type="arabicPeriod"/>
            </a:pPr>
            <a:r>
              <a:rPr lang="en" sz="1187">
                <a:solidFill>
                  <a:schemeClr val="dk1"/>
                </a:solidFill>
                <a:latin typeface="Times New Roman"/>
                <a:ea typeface="Times New Roman"/>
                <a:cs typeface="Times New Roman"/>
                <a:sym typeface="Times New Roman"/>
              </a:rPr>
              <a:t>Model the FIFO's "First-In, First-Out" behavior (like a software queue).</a:t>
            </a:r>
            <a:endParaRPr sz="1187">
              <a:solidFill>
                <a:schemeClr val="dk1"/>
              </a:solidFill>
              <a:latin typeface="Times New Roman"/>
              <a:ea typeface="Times New Roman"/>
              <a:cs typeface="Times New Roman"/>
              <a:sym typeface="Times New Roman"/>
            </a:endParaRPr>
          </a:p>
          <a:p>
            <a:pPr indent="-304006" lvl="1" marL="914400" rtl="0" algn="l">
              <a:lnSpc>
                <a:spcPct val="95000"/>
              </a:lnSpc>
              <a:spcBef>
                <a:spcPts val="0"/>
              </a:spcBef>
              <a:spcAft>
                <a:spcPts val="0"/>
              </a:spcAft>
              <a:buClr>
                <a:schemeClr val="dk1"/>
              </a:buClr>
              <a:buSzPts val="1188"/>
              <a:buAutoNum type="arabicPeriod"/>
            </a:pPr>
            <a:r>
              <a:rPr lang="en" sz="1187">
                <a:solidFill>
                  <a:schemeClr val="dk1"/>
                </a:solidFill>
                <a:latin typeface="Times New Roman"/>
                <a:ea typeface="Times New Roman"/>
                <a:cs typeface="Times New Roman"/>
                <a:sym typeface="Times New Roman"/>
              </a:rPr>
              <a:t>Check for </a:t>
            </a:r>
            <a:r>
              <a:rPr b="1" lang="en" sz="1187">
                <a:solidFill>
                  <a:schemeClr val="dk1"/>
                </a:solidFill>
                <a:latin typeface="Times New Roman"/>
                <a:ea typeface="Times New Roman"/>
                <a:cs typeface="Times New Roman"/>
                <a:sym typeface="Times New Roman"/>
              </a:rPr>
              <a:t>Data Integrity</a:t>
            </a:r>
            <a:r>
              <a:rPr lang="en" sz="1187">
                <a:solidFill>
                  <a:schemeClr val="dk1"/>
                </a:solidFill>
                <a:latin typeface="Times New Roman"/>
                <a:ea typeface="Times New Roman"/>
                <a:cs typeface="Times New Roman"/>
                <a:sym typeface="Times New Roman"/>
              </a:rPr>
              <a:t>: Is the data read (</a:t>
            </a:r>
            <a:r>
              <a:rPr lang="en" sz="1187">
                <a:solidFill>
                  <a:srgbClr val="188038"/>
                </a:solidFill>
                <a:latin typeface="Times New Roman"/>
                <a:ea typeface="Times New Roman"/>
                <a:cs typeface="Times New Roman"/>
                <a:sym typeface="Times New Roman"/>
              </a:rPr>
              <a:t>rdata</a:t>
            </a:r>
            <a:r>
              <a:rPr lang="en" sz="1187">
                <a:solidFill>
                  <a:schemeClr val="dk1"/>
                </a:solidFill>
                <a:latin typeface="Times New Roman"/>
                <a:ea typeface="Times New Roman"/>
                <a:cs typeface="Times New Roman"/>
                <a:sym typeface="Times New Roman"/>
              </a:rPr>
              <a:t>) the same as the data that was written?</a:t>
            </a:r>
            <a:endParaRPr sz="1187">
              <a:solidFill>
                <a:schemeClr val="dk1"/>
              </a:solidFill>
              <a:latin typeface="Times New Roman"/>
              <a:ea typeface="Times New Roman"/>
              <a:cs typeface="Times New Roman"/>
              <a:sym typeface="Times New Roman"/>
            </a:endParaRPr>
          </a:p>
          <a:p>
            <a:pPr indent="-304006" lvl="1" marL="914400" rtl="0" algn="l">
              <a:lnSpc>
                <a:spcPct val="95000"/>
              </a:lnSpc>
              <a:spcBef>
                <a:spcPts val="0"/>
              </a:spcBef>
              <a:spcAft>
                <a:spcPts val="0"/>
              </a:spcAft>
              <a:buClr>
                <a:schemeClr val="dk1"/>
              </a:buClr>
              <a:buSzPts val="1188"/>
              <a:buAutoNum type="arabicPeriod"/>
            </a:pPr>
            <a:r>
              <a:rPr lang="en" sz="1187">
                <a:solidFill>
                  <a:schemeClr val="dk1"/>
                </a:solidFill>
                <a:latin typeface="Times New Roman"/>
                <a:ea typeface="Times New Roman"/>
                <a:cs typeface="Times New Roman"/>
                <a:sym typeface="Times New Roman"/>
              </a:rPr>
              <a:t>Check for </a:t>
            </a:r>
            <a:r>
              <a:rPr b="1" lang="en" sz="1187">
                <a:solidFill>
                  <a:schemeClr val="dk1"/>
                </a:solidFill>
                <a:latin typeface="Times New Roman"/>
                <a:ea typeface="Times New Roman"/>
                <a:cs typeface="Times New Roman"/>
                <a:sym typeface="Times New Roman"/>
              </a:rPr>
              <a:t>Order</a:t>
            </a:r>
            <a:r>
              <a:rPr lang="en" sz="1187">
                <a:solidFill>
                  <a:schemeClr val="dk1"/>
                </a:solidFill>
                <a:latin typeface="Times New Roman"/>
                <a:ea typeface="Times New Roman"/>
                <a:cs typeface="Times New Roman"/>
                <a:sym typeface="Times New Roman"/>
              </a:rPr>
              <a:t>: Is the data coming out in the correct sequence?</a:t>
            </a:r>
            <a:endParaRPr sz="1187">
              <a:solidFill>
                <a:schemeClr val="dk1"/>
              </a:solidFill>
              <a:latin typeface="Times New Roman"/>
              <a:ea typeface="Times New Roman"/>
              <a:cs typeface="Times New Roman"/>
              <a:sym typeface="Times New Roman"/>
            </a:endParaRPr>
          </a:p>
          <a:p>
            <a:pPr indent="-304006" lvl="0" marL="457200" rtl="0" algn="l">
              <a:lnSpc>
                <a:spcPct val="95000"/>
              </a:lnSpc>
              <a:spcBef>
                <a:spcPts val="0"/>
              </a:spcBef>
              <a:spcAft>
                <a:spcPts val="0"/>
              </a:spcAft>
              <a:buClr>
                <a:schemeClr val="dk1"/>
              </a:buClr>
              <a:buSzPts val="1188"/>
              <a:buChar char="●"/>
            </a:pPr>
            <a:r>
              <a:rPr b="1" lang="en" sz="1187">
                <a:solidFill>
                  <a:srgbClr val="188038"/>
                </a:solidFill>
                <a:latin typeface="Times New Roman"/>
                <a:ea typeface="Times New Roman"/>
                <a:cs typeface="Times New Roman"/>
                <a:sym typeface="Times New Roman"/>
              </a:rPr>
              <a:t>Coverage</a:t>
            </a:r>
            <a:r>
              <a:rPr b="1" lang="en" sz="1187">
                <a:solidFill>
                  <a:schemeClr val="dk1"/>
                </a:solidFill>
                <a:latin typeface="Times New Roman"/>
                <a:ea typeface="Times New Roman"/>
                <a:cs typeface="Times New Roman"/>
                <a:sym typeface="Times New Roman"/>
              </a:rPr>
              <a:t>:</a:t>
            </a:r>
            <a:r>
              <a:rPr lang="en" sz="1187">
                <a:solidFill>
                  <a:schemeClr val="dk1"/>
                </a:solidFill>
                <a:latin typeface="Times New Roman"/>
                <a:ea typeface="Times New Roman"/>
                <a:cs typeface="Times New Roman"/>
                <a:sym typeface="Times New Roman"/>
              </a:rPr>
              <a:t> Collects statistics to measure </a:t>
            </a:r>
            <a:r>
              <a:rPr i="1" lang="en" sz="1187">
                <a:solidFill>
                  <a:schemeClr val="dk1"/>
                </a:solidFill>
                <a:latin typeface="Times New Roman"/>
                <a:ea typeface="Times New Roman"/>
                <a:cs typeface="Times New Roman"/>
                <a:sym typeface="Times New Roman"/>
              </a:rPr>
              <a:t>how well</a:t>
            </a:r>
            <a:r>
              <a:rPr lang="en" sz="1187">
                <a:solidFill>
                  <a:schemeClr val="dk1"/>
                </a:solidFill>
                <a:latin typeface="Times New Roman"/>
                <a:ea typeface="Times New Roman"/>
                <a:cs typeface="Times New Roman"/>
                <a:sym typeface="Times New Roman"/>
              </a:rPr>
              <a:t> the DUT was tested (e.g., "Did we test the FIFO-full condition?").</a:t>
            </a:r>
            <a:endParaRPr sz="118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688"/>
              <a:buNone/>
            </a:pPr>
            <a:r>
              <a:t/>
            </a:r>
            <a:endParaRPr sz="1925">
              <a:latin typeface="Times New Roman"/>
              <a:ea typeface="Times New Roman"/>
              <a:cs typeface="Times New Roman"/>
              <a:sym typeface="Times New Roman"/>
            </a:endParaRPr>
          </a:p>
        </p:txBody>
      </p:sp>
      <p:sp>
        <p:nvSpPr>
          <p:cNvPr id="98" name="Google Shape;98;p19"/>
          <p:cNvSpPr txBox="1"/>
          <p:nvPr>
            <p:ph type="title"/>
          </p:nvPr>
        </p:nvSpPr>
        <p:spPr>
          <a:xfrm>
            <a:off x="125275" y="1105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latin typeface="Georgia"/>
                <a:ea typeface="Georgia"/>
                <a:cs typeface="Georgia"/>
                <a:sym typeface="Georgia"/>
              </a:rPr>
              <a:t>UVM Testbench Architecture: Verifying the Asynchronous FIFO</a:t>
            </a:r>
            <a:endParaRPr sz="1220">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23400"/>
            <a:ext cx="8520600" cy="690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Georgia"/>
                <a:ea typeface="Georgia"/>
                <a:cs typeface="Georgia"/>
                <a:sym typeface="Georgia"/>
              </a:rPr>
              <a:t>Simulation Waveform</a:t>
            </a:r>
            <a:endParaRPr>
              <a:latin typeface="Georgia"/>
              <a:ea typeface="Georgia"/>
              <a:cs typeface="Georgia"/>
              <a:sym typeface="Georgia"/>
            </a:endParaRPr>
          </a:p>
        </p:txBody>
      </p:sp>
      <p:pic>
        <p:nvPicPr>
          <p:cNvPr id="104" name="Google Shape;104;p20"/>
          <p:cNvPicPr preferRelativeResize="0"/>
          <p:nvPr/>
        </p:nvPicPr>
        <p:blipFill>
          <a:blip r:embed="rId3">
            <a:alphaModFix/>
          </a:blip>
          <a:stretch>
            <a:fillRect/>
          </a:stretch>
        </p:blipFill>
        <p:spPr>
          <a:xfrm>
            <a:off x="7501306" y="-1"/>
            <a:ext cx="1642694" cy="792600"/>
          </a:xfrm>
          <a:prstGeom prst="rect">
            <a:avLst/>
          </a:prstGeom>
          <a:noFill/>
          <a:ln>
            <a:noFill/>
          </a:ln>
        </p:spPr>
      </p:pic>
      <p:sp>
        <p:nvSpPr>
          <p:cNvPr id="105" name="Google Shape;105;p20"/>
          <p:cNvSpPr txBox="1"/>
          <p:nvPr/>
        </p:nvSpPr>
        <p:spPr>
          <a:xfrm>
            <a:off x="388325" y="538850"/>
            <a:ext cx="3229800" cy="37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Georgia"/>
                <a:ea typeface="Georgia"/>
                <a:cs typeface="Georgia"/>
                <a:sym typeface="Georgia"/>
              </a:rPr>
              <a:t>.dut</a:t>
            </a:r>
            <a:endParaRPr sz="1800">
              <a:solidFill>
                <a:schemeClr val="dk2"/>
              </a:solidFill>
              <a:latin typeface="Georgia"/>
              <a:ea typeface="Georgia"/>
              <a:cs typeface="Georgia"/>
              <a:sym typeface="Georgia"/>
            </a:endParaRPr>
          </a:p>
        </p:txBody>
      </p:sp>
      <p:pic>
        <p:nvPicPr>
          <p:cNvPr id="106" name="Google Shape;106;p20"/>
          <p:cNvPicPr preferRelativeResize="0"/>
          <p:nvPr/>
        </p:nvPicPr>
        <p:blipFill>
          <a:blip r:embed="rId4">
            <a:alphaModFix/>
          </a:blip>
          <a:stretch>
            <a:fillRect/>
          </a:stretch>
        </p:blipFill>
        <p:spPr>
          <a:xfrm>
            <a:off x="278800" y="1026875"/>
            <a:ext cx="8839200" cy="3948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83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Terminal output</a:t>
            </a:r>
            <a:endParaRPr>
              <a:latin typeface="Georgia"/>
              <a:ea typeface="Georgia"/>
              <a:cs typeface="Georgia"/>
              <a:sym typeface="Georgia"/>
            </a:endParaRPr>
          </a:p>
        </p:txBody>
      </p:sp>
      <p:sp>
        <p:nvSpPr>
          <p:cNvPr id="112" name="Google Shape;1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3" name="Google Shape;113;p21"/>
          <p:cNvPicPr preferRelativeResize="0"/>
          <p:nvPr/>
        </p:nvPicPr>
        <p:blipFill>
          <a:blip r:embed="rId3">
            <a:alphaModFix/>
          </a:blip>
          <a:stretch>
            <a:fillRect/>
          </a:stretch>
        </p:blipFill>
        <p:spPr>
          <a:xfrm>
            <a:off x="361900" y="655825"/>
            <a:ext cx="8651898" cy="1831475"/>
          </a:xfrm>
          <a:prstGeom prst="rect">
            <a:avLst/>
          </a:prstGeom>
          <a:noFill/>
          <a:ln>
            <a:noFill/>
          </a:ln>
        </p:spPr>
      </p:pic>
      <p:pic>
        <p:nvPicPr>
          <p:cNvPr id="114" name="Google Shape;114;p21"/>
          <p:cNvPicPr preferRelativeResize="0"/>
          <p:nvPr/>
        </p:nvPicPr>
        <p:blipFill>
          <a:blip r:embed="rId4">
            <a:alphaModFix/>
          </a:blip>
          <a:stretch>
            <a:fillRect/>
          </a:stretch>
        </p:blipFill>
        <p:spPr>
          <a:xfrm>
            <a:off x="422225" y="2458100"/>
            <a:ext cx="3848375" cy="2500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References</a:t>
            </a:r>
            <a:endParaRPr>
              <a:latin typeface="Georgia"/>
              <a:ea typeface="Georgia"/>
              <a:cs typeface="Georgia"/>
              <a:sym typeface="Georgia"/>
            </a:endParaRPr>
          </a:p>
        </p:txBody>
      </p:sp>
      <p:sp>
        <p:nvSpPr>
          <p:cNvPr id="120" name="Google Shape;12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Github link of files</a:t>
            </a:r>
            <a:br>
              <a:rPr lang="en"/>
            </a:br>
            <a:r>
              <a:rPr lang="en" u="sng">
                <a:solidFill>
                  <a:schemeClr val="hlink"/>
                </a:solidFill>
                <a:hlinkClick r:id="rId3"/>
              </a:rPr>
              <a:t>https://github.com/aumkarrb/FFVDD_Project_V_Sem/</a:t>
            </a:r>
            <a:endParaRPr/>
          </a:p>
          <a:p>
            <a:pPr indent="0" lvl="0" marL="0" rtl="0" algn="l">
              <a:spcBef>
                <a:spcPts val="1200"/>
              </a:spcBef>
              <a:spcAft>
                <a:spcPts val="1200"/>
              </a:spcAft>
              <a:buNone/>
            </a:pPr>
            <a:r>
              <a:t/>
            </a:r>
            <a:endParaRPr/>
          </a:p>
        </p:txBody>
      </p:sp>
      <p:pic>
        <p:nvPicPr>
          <p:cNvPr id="121" name="Google Shape;121;p22"/>
          <p:cNvPicPr preferRelativeResize="0"/>
          <p:nvPr/>
        </p:nvPicPr>
        <p:blipFill>
          <a:blip r:embed="rId4">
            <a:alphaModFix/>
          </a:blip>
          <a:stretch>
            <a:fillRect/>
          </a:stretch>
        </p:blipFill>
        <p:spPr>
          <a:xfrm>
            <a:off x="7501306" y="-1"/>
            <a:ext cx="1642694" cy="792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